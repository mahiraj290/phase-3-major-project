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D37"/>
          </a:solidFill>
          <a:ln>
            <a:noFill/>
          </a:ln>
        </p:spPr>
      </p:sp>
      <p:sp>
        <p:nvSpPr>
          <p:cNvPr id="3" name="Footer"/>
          <p:cNvSpPr/>
          <p:nvPr/>
        </p:nvSpPr>
        <p:spPr>
          <a:xfrm>
            <a:off x="621792" y="6473952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50" b="1">
                <a:solidFill>
                  <a:srgbClr val="AFC8BE"/>
                </a:solidFill>
                <a:latin typeface="Aptos"/>
              </a:rPr>
              <a:t>MEDLENS  /  EXPLAINABLE AI PROJECT</a:t>
            </a:r>
            <a:endParaRPr lang="en-US" sz="850"/>
          </a:p>
        </p:txBody>
      </p:sp>
      <p:sp>
        <p:nvSpPr>
          <p:cNvPr id="4" name="Page number"/>
          <p:cNvSpPr/>
          <p:nvPr/>
        </p:nvSpPr>
        <p:spPr>
          <a:xfrm>
            <a:off x="10972800" y="6437376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50" b="0">
                <a:solidFill>
                  <a:srgbClr val="AFC8BE"/>
                </a:solidFill>
                <a:latin typeface="Aptos"/>
              </a:rPr>
              <a:t>01 / 08</a:t>
            </a:r>
            <a:endParaRPr lang="en-US" sz="950"/>
          </a:p>
        </p:txBody>
      </p:sp>
      <p:sp>
        <p:nvSpPr>
          <p:cNvPr id="5" name="Card"/>
          <p:cNvSpPr/>
          <p:nvPr/>
        </p:nvSpPr>
        <p:spPr>
          <a:xfrm>
            <a:off x="685800" y="658368"/>
            <a:ext cx="566928" cy="566928"/>
          </a:xfrm>
          <a:prstGeom prst="ellipse">
            <a:avLst/>
          </a:prstGeom>
          <a:solidFill>
            <a:srgbClr val="2E7868"/>
          </a:solidFill>
          <a:ln>
            <a:noFill/>
          </a:ln>
        </p:spPr>
      </p:sp>
      <p:sp>
        <p:nvSpPr>
          <p:cNvPr id="6" name="Text"/>
          <p:cNvSpPr/>
          <p:nvPr/>
        </p:nvSpPr>
        <p:spPr>
          <a:xfrm>
            <a:off x="685800" y="667512"/>
            <a:ext cx="56692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Aptos"/>
              </a:rPr>
              <a:t>+</a:t>
            </a:r>
            <a:endParaRPr lang="en-US" sz="2800"/>
          </a:p>
        </p:txBody>
      </p:sp>
      <p:sp>
        <p:nvSpPr>
          <p:cNvPr id="7" name="Text"/>
          <p:cNvSpPr/>
          <p:nvPr/>
        </p:nvSpPr>
        <p:spPr>
          <a:xfrm>
            <a:off x="713232" y="1527048"/>
            <a:ext cx="5394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50" b="1">
                <a:solidFill>
                  <a:srgbClr val="A5D7C6"/>
                </a:solidFill>
                <a:latin typeface="Aptos"/>
              </a:rPr>
              <a:t>EXPLAINABLE AI  /  PROJECT PRESENTATION</a:t>
            </a:r>
            <a:endParaRPr lang="en-US" sz="1150"/>
          </a:p>
        </p:txBody>
      </p:sp>
      <p:sp>
        <p:nvSpPr>
          <p:cNvPr id="8" name="Text"/>
          <p:cNvSpPr/>
          <p:nvPr/>
        </p:nvSpPr>
        <p:spPr>
          <a:xfrm>
            <a:off x="685800" y="2011680"/>
            <a:ext cx="74980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3350" b="1">
                <a:solidFill>
                  <a:srgbClr val="FFFFFF"/>
                </a:solidFill>
                <a:latin typeface="Aptos"/>
              </a:rPr>
              <a:t>MedLens: Making health</a:t>
            </a:r>
            <a:endParaRPr lang="en-US" sz="3350"/>
          </a:p>
        </p:txBody>
      </p:sp>
      <p:sp>
        <p:nvSpPr>
          <p:cNvPr id="9" name="Text"/>
          <p:cNvSpPr/>
          <p:nvPr/>
        </p:nvSpPr>
        <p:spPr>
          <a:xfrm>
            <a:off x="685800" y="2697480"/>
            <a:ext cx="74980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3350" b="1">
                <a:solidFill>
                  <a:srgbClr val="FFFFFF"/>
                </a:solidFill>
                <a:latin typeface="Aptos"/>
              </a:rPr>
              <a:t>scoring explainable</a:t>
            </a:r>
            <a:endParaRPr lang="en-US" sz="3350"/>
          </a:p>
        </p:txBody>
      </p:sp>
      <p:sp>
        <p:nvSpPr>
          <p:cNvPr id="10" name="Text"/>
          <p:cNvSpPr/>
          <p:nvPr/>
        </p:nvSpPr>
        <p:spPr>
          <a:xfrm>
            <a:off x="713232" y="3767328"/>
            <a:ext cx="5852160" cy="8412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l"/>
            <a:r>
              <a:rPr lang="en-US" sz="1700" b="0">
                <a:solidFill>
                  <a:srgbClr val="D4E4DE"/>
                </a:solidFill>
                <a:latin typeface="Aptos"/>
              </a:rPr>
              <a:t>A classroom prototype that shows how simple, visible rules turn fictional inputs into an inspectable demo signal.</a:t>
            </a:r>
            <a:endParaRPr lang="en-US" sz="1700"/>
          </a:p>
        </p:txBody>
      </p:sp>
      <p:sp>
        <p:nvSpPr>
          <p:cNvPr id="11" name="Card"/>
          <p:cNvSpPr/>
          <p:nvPr/>
        </p:nvSpPr>
        <p:spPr>
          <a:xfrm>
            <a:off x="8458200" y="1417320"/>
            <a:ext cx="2852928" cy="3547872"/>
          </a:xfrm>
          <a:prstGeom prst="roundRect">
            <a:avLst/>
          </a:prstGeom>
          <a:solidFill>
            <a:srgbClr val="20564B"/>
          </a:solidFill>
          <a:ln>
            <a:noFill/>
          </a:ln>
        </p:spPr>
      </p:sp>
      <p:sp>
        <p:nvSpPr>
          <p:cNvPr id="12" name="Text"/>
          <p:cNvSpPr/>
          <p:nvPr/>
        </p:nvSpPr>
        <p:spPr>
          <a:xfrm>
            <a:off x="8732520" y="1773936"/>
            <a:ext cx="2322576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ctr"/>
            <a:r>
              <a:rPr lang="en-US" sz="1200" b="1">
                <a:solidFill>
                  <a:srgbClr val="A5D7C6"/>
                </a:solidFill>
                <a:latin typeface="Aptos"/>
              </a:rPr>
              <a:t>INPUTS</a:t>
            </a:r>
            <a:endParaRPr lang="en-US" sz="1200"/>
          </a:p>
        </p:txBody>
      </p:sp>
      <p:sp>
        <p:nvSpPr>
          <p:cNvPr id="13" name="Card"/>
          <p:cNvSpPr/>
          <p:nvPr/>
        </p:nvSpPr>
        <p:spPr>
          <a:xfrm>
            <a:off x="8906256" y="2432304"/>
            <a:ext cx="1920240" cy="384048"/>
          </a:xfrm>
          <a:prstGeom prst="roundRect">
            <a:avLst/>
          </a:prstGeom>
          <a:solidFill>
            <a:srgbClr val="2B6D5E"/>
          </a:solidFill>
          <a:ln>
            <a:noFill/>
          </a:ln>
        </p:spPr>
      </p:sp>
      <p:sp>
        <p:nvSpPr>
          <p:cNvPr id="14" name="Text"/>
          <p:cNvSpPr/>
          <p:nvPr/>
        </p:nvSpPr>
        <p:spPr>
          <a:xfrm>
            <a:off x="8942832" y="2450592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Aptos"/>
              </a:rPr>
              <a:t>BP</a:t>
            </a:r>
            <a:endParaRPr lang="en-US" sz="1050"/>
          </a:p>
        </p:txBody>
      </p:sp>
      <p:sp>
        <p:nvSpPr>
          <p:cNvPr id="15" name="Card"/>
          <p:cNvSpPr/>
          <p:nvPr/>
        </p:nvSpPr>
        <p:spPr>
          <a:xfrm>
            <a:off x="8906256" y="3035808"/>
            <a:ext cx="1920240" cy="384048"/>
          </a:xfrm>
          <a:prstGeom prst="roundRect">
            <a:avLst/>
          </a:prstGeom>
          <a:solidFill>
            <a:srgbClr val="2B6D5E"/>
          </a:solidFill>
          <a:ln>
            <a:noFill/>
          </a:ln>
        </p:spPr>
      </p:sp>
      <p:sp>
        <p:nvSpPr>
          <p:cNvPr id="16" name="Text"/>
          <p:cNvSpPr/>
          <p:nvPr/>
        </p:nvSpPr>
        <p:spPr>
          <a:xfrm>
            <a:off x="8942832" y="3054096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Aptos"/>
              </a:rPr>
              <a:t>GLUCOSE</a:t>
            </a:r>
            <a:endParaRPr lang="en-US" sz="1050"/>
          </a:p>
        </p:txBody>
      </p:sp>
      <p:sp>
        <p:nvSpPr>
          <p:cNvPr id="17" name="Card"/>
          <p:cNvSpPr/>
          <p:nvPr/>
        </p:nvSpPr>
        <p:spPr>
          <a:xfrm>
            <a:off x="8906256" y="3639312"/>
            <a:ext cx="1920240" cy="384048"/>
          </a:xfrm>
          <a:prstGeom prst="roundRect">
            <a:avLst/>
          </a:prstGeom>
          <a:solidFill>
            <a:srgbClr val="2B6D5E"/>
          </a:solidFill>
          <a:ln>
            <a:noFill/>
          </a:ln>
        </p:spPr>
      </p:sp>
      <p:sp>
        <p:nvSpPr>
          <p:cNvPr id="18" name="Text"/>
          <p:cNvSpPr/>
          <p:nvPr/>
        </p:nvSpPr>
        <p:spPr>
          <a:xfrm>
            <a:off x="8942832" y="3657600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Aptos"/>
              </a:rPr>
              <a:t>BMI</a:t>
            </a:r>
            <a:endParaRPr lang="en-US" sz="1050"/>
          </a:p>
        </p:txBody>
      </p:sp>
      <p:sp>
        <p:nvSpPr>
          <p:cNvPr id="19" name="Card"/>
          <p:cNvSpPr/>
          <p:nvPr/>
        </p:nvSpPr>
        <p:spPr>
          <a:xfrm>
            <a:off x="8906256" y="4242816"/>
            <a:ext cx="1920240" cy="384048"/>
          </a:xfrm>
          <a:prstGeom prst="roundRect">
            <a:avLst/>
          </a:prstGeom>
          <a:solidFill>
            <a:srgbClr val="2B6D5E"/>
          </a:solidFill>
          <a:ln>
            <a:noFill/>
          </a:ln>
        </p:spPr>
      </p:sp>
      <p:sp>
        <p:nvSpPr>
          <p:cNvPr id="20" name="Text"/>
          <p:cNvSpPr/>
          <p:nvPr/>
        </p:nvSpPr>
        <p:spPr>
          <a:xfrm>
            <a:off x="8942832" y="4261104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Aptos"/>
              </a:rPr>
              <a:t>AGE</a:t>
            </a:r>
            <a:endParaRPr lang="en-US" sz="1050"/>
          </a:p>
        </p:txBody>
      </p:sp>
      <p:sp>
        <p:nvSpPr>
          <p:cNvPr id="21" name="Text"/>
          <p:cNvSpPr/>
          <p:nvPr/>
        </p:nvSpPr>
        <p:spPr>
          <a:xfrm>
            <a:off x="713232" y="5294376"/>
            <a:ext cx="66751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600" b="1">
                <a:solidFill>
                  <a:srgbClr val="E9B85B"/>
                </a:solidFill>
                <a:latin typeface="Aptos"/>
              </a:rPr>
              <a:t>Every point has a reason. No hidden model. No clinical claims.</a:t>
            </a:r>
            <a:endParaRPr lang="en-US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7868"/>
          </a:solidFill>
          <a:ln>
            <a:noFill/>
          </a:ln>
        </p:spPr>
      </p:sp>
      <p:sp>
        <p:nvSpPr>
          <p:cNvPr id="4" name="Section label"/>
          <p:cNvSpPr/>
          <p:nvPr/>
        </p:nvSpPr>
        <p:spPr>
          <a:xfrm>
            <a:off x="621792" y="34747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50" b="1">
                <a:solidFill>
                  <a:srgbClr val="2E7868"/>
                </a:solidFill>
                <a:latin typeface="Aptos"/>
              </a:rPr>
              <a:t>01  /  THE MOTIVATION</a:t>
            </a:r>
            <a:endParaRPr lang="en-US" sz="1050"/>
          </a:p>
        </p:txBody>
      </p:sp>
      <p:sp>
        <p:nvSpPr>
          <p:cNvPr id="5" name="Slide title"/>
          <p:cNvSpPr/>
          <p:nvPr/>
        </p:nvSpPr>
        <p:spPr>
          <a:xfrm>
            <a:off x="621792" y="685800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700" b="1">
                <a:solidFill>
                  <a:srgbClr val="163D37"/>
                </a:solidFill>
                <a:latin typeface="Aptos"/>
              </a:rPr>
              <a:t>A score is easier to trust when we can inspect it.</a:t>
            </a:r>
            <a:endParaRPr lang="en-US" sz="2700"/>
          </a:p>
        </p:txBody>
      </p:sp>
      <p:sp>
        <p:nvSpPr>
          <p:cNvPr id="6" name="Slide subtitle"/>
          <p:cNvSpPr/>
          <p:nvPr/>
        </p:nvSpPr>
        <p:spPr>
          <a:xfrm>
            <a:off x="640080" y="1307592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50" b="0">
                <a:solidFill>
                  <a:srgbClr val="64766F"/>
                </a:solidFill>
                <a:latin typeface="Aptos"/>
              </a:rPr>
              <a:t>Many automated outputs give a result without showing what drove it.</a:t>
            </a:r>
            <a:endParaRPr lang="en-US" sz="1450"/>
          </a:p>
        </p:txBody>
      </p:sp>
      <p:sp>
        <p:nvSpPr>
          <p:cNvPr id="7" name="Footer"/>
          <p:cNvSpPr/>
          <p:nvPr/>
        </p:nvSpPr>
        <p:spPr>
          <a:xfrm>
            <a:off x="621792" y="6473952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50" b="1">
                <a:solidFill>
                  <a:srgbClr val="64766F"/>
                </a:solidFill>
                <a:latin typeface="Aptos"/>
              </a:rPr>
              <a:t>MEDLENS  /  EXPLAINABLE AI PROJECT</a:t>
            </a:r>
            <a:endParaRPr lang="en-US" sz="850"/>
          </a:p>
        </p:txBody>
      </p:sp>
      <p:sp>
        <p:nvSpPr>
          <p:cNvPr id="8" name="Page number"/>
          <p:cNvSpPr/>
          <p:nvPr/>
        </p:nvSpPr>
        <p:spPr>
          <a:xfrm>
            <a:off x="10972800" y="6437376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50" b="0">
                <a:solidFill>
                  <a:srgbClr val="64766F"/>
                </a:solidFill>
                <a:latin typeface="Aptos"/>
              </a:rPr>
              <a:t>02 / 08</a:t>
            </a:r>
            <a:endParaRPr lang="en-US" sz="950"/>
          </a:p>
        </p:txBody>
      </p:sp>
      <p:sp>
        <p:nvSpPr>
          <p:cNvPr id="9" name="Card"/>
          <p:cNvSpPr/>
          <p:nvPr/>
        </p:nvSpPr>
        <p:spPr>
          <a:xfrm>
            <a:off x="658368" y="1965960"/>
            <a:ext cx="3529584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Card accent"/>
          <p:cNvSpPr/>
          <p:nvPr/>
        </p:nvSpPr>
        <p:spPr>
          <a:xfrm>
            <a:off x="859536" y="2194560"/>
            <a:ext cx="73152" cy="804672"/>
          </a:xfrm>
          <a:prstGeom prst="roundRect">
            <a:avLst/>
          </a:prstGeom>
          <a:solidFill>
            <a:srgbClr val="2E7868"/>
          </a:solidFill>
          <a:ln>
            <a:noFill/>
          </a:ln>
        </p:spPr>
      </p:sp>
      <p:sp>
        <p:nvSpPr>
          <p:cNvPr id="11" name="Text"/>
          <p:cNvSpPr/>
          <p:nvPr/>
        </p:nvSpPr>
        <p:spPr>
          <a:xfrm>
            <a:off x="1069848" y="2130552"/>
            <a:ext cx="2916936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700" b="1">
                <a:solidFill>
                  <a:srgbClr val="163D37"/>
                </a:solidFill>
                <a:latin typeface="Aptos"/>
              </a:rPr>
              <a:t>The black-box problem</a:t>
            </a:r>
            <a:endParaRPr lang="en-US" sz="1700"/>
          </a:p>
        </p:txBody>
      </p:sp>
      <p:sp>
        <p:nvSpPr>
          <p:cNvPr id="12" name="Text"/>
          <p:cNvSpPr/>
          <p:nvPr/>
        </p:nvSpPr>
        <p:spPr>
          <a:xfrm>
            <a:off x="1069848" y="2532888"/>
            <a:ext cx="2916936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275" b="0">
                <a:solidFill>
                  <a:srgbClr val="64766F"/>
                </a:solidFill>
                <a:latin typeface="Aptos"/>
              </a:rPr>
              <a:t>A number alone can hide which inputs mattered and how.</a:t>
            </a:r>
            <a:endParaRPr lang="en-US" sz="1275"/>
          </a:p>
        </p:txBody>
      </p:sp>
      <p:sp>
        <p:nvSpPr>
          <p:cNvPr id="13" name="Card"/>
          <p:cNvSpPr/>
          <p:nvPr/>
        </p:nvSpPr>
        <p:spPr>
          <a:xfrm>
            <a:off x="4343400" y="1965960"/>
            <a:ext cx="3529584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Card accent"/>
          <p:cNvSpPr/>
          <p:nvPr/>
        </p:nvSpPr>
        <p:spPr>
          <a:xfrm>
            <a:off x="4544568" y="2194560"/>
            <a:ext cx="73152" cy="804672"/>
          </a:xfrm>
          <a:prstGeom prst="roundRect">
            <a:avLst/>
          </a:prstGeom>
          <a:solidFill>
            <a:srgbClr val="E9B85B"/>
          </a:solidFill>
          <a:ln>
            <a:noFill/>
          </a:ln>
        </p:spPr>
      </p:sp>
      <p:sp>
        <p:nvSpPr>
          <p:cNvPr id="15" name="Text"/>
          <p:cNvSpPr/>
          <p:nvPr/>
        </p:nvSpPr>
        <p:spPr>
          <a:xfrm>
            <a:off x="4754880" y="2130552"/>
            <a:ext cx="2916936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700" b="1">
                <a:solidFill>
                  <a:srgbClr val="163D37"/>
                </a:solidFill>
                <a:latin typeface="Aptos"/>
              </a:rPr>
              <a:t>The learning opportunity</a:t>
            </a:r>
            <a:endParaRPr lang="en-US" sz="1700"/>
          </a:p>
        </p:txBody>
      </p:sp>
      <p:sp>
        <p:nvSpPr>
          <p:cNvPr id="16" name="Text"/>
          <p:cNvSpPr/>
          <p:nvPr/>
        </p:nvSpPr>
        <p:spPr>
          <a:xfrm>
            <a:off x="4754880" y="2532888"/>
            <a:ext cx="2916936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275" b="0">
                <a:solidFill>
                  <a:srgbClr val="64766F"/>
                </a:solidFill>
                <a:latin typeface="Aptos"/>
              </a:rPr>
              <a:t>A visible explanation lets learners question each step.</a:t>
            </a:r>
            <a:endParaRPr lang="en-US" sz="1275"/>
          </a:p>
        </p:txBody>
      </p:sp>
      <p:sp>
        <p:nvSpPr>
          <p:cNvPr id="17" name="Card"/>
          <p:cNvSpPr/>
          <p:nvPr/>
        </p:nvSpPr>
        <p:spPr>
          <a:xfrm>
            <a:off x="8028432" y="1965960"/>
            <a:ext cx="3529584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" name="Card accent"/>
          <p:cNvSpPr/>
          <p:nvPr/>
        </p:nvSpPr>
        <p:spPr>
          <a:xfrm>
            <a:off x="8229600" y="2194560"/>
            <a:ext cx="73152" cy="804672"/>
          </a:xfrm>
          <a:prstGeom prst="roundRect">
            <a:avLst/>
          </a:prstGeom>
          <a:solidFill>
            <a:srgbClr val="2E7868"/>
          </a:solidFill>
          <a:ln>
            <a:noFill/>
          </a:ln>
        </p:spPr>
      </p:sp>
      <p:sp>
        <p:nvSpPr>
          <p:cNvPr id="19" name="Text"/>
          <p:cNvSpPr/>
          <p:nvPr/>
        </p:nvSpPr>
        <p:spPr>
          <a:xfrm>
            <a:off x="8439912" y="2130552"/>
            <a:ext cx="2916936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700" b="1">
                <a:solidFill>
                  <a:srgbClr val="163D37"/>
                </a:solidFill>
                <a:latin typeface="Aptos"/>
              </a:rPr>
              <a:t>The MedLens idea</a:t>
            </a:r>
            <a:endParaRPr lang="en-US" sz="1700"/>
          </a:p>
        </p:txBody>
      </p:sp>
      <p:sp>
        <p:nvSpPr>
          <p:cNvPr id="20" name="Text"/>
          <p:cNvSpPr/>
          <p:nvPr/>
        </p:nvSpPr>
        <p:spPr>
          <a:xfrm>
            <a:off x="8439912" y="2532888"/>
            <a:ext cx="2916936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275" b="0">
                <a:solidFill>
                  <a:srgbClr val="64766F"/>
                </a:solidFill>
                <a:latin typeface="Aptos"/>
              </a:rPr>
              <a:t>Show each indicator's points beside the overall demo signal.</a:t>
            </a:r>
            <a:endParaRPr lang="en-US" sz="1275"/>
          </a:p>
        </p:txBody>
      </p:sp>
      <p:sp>
        <p:nvSpPr>
          <p:cNvPr id="21" name="Card"/>
          <p:cNvSpPr/>
          <p:nvPr/>
        </p:nvSpPr>
        <p:spPr>
          <a:xfrm>
            <a:off x="658368" y="3767328"/>
            <a:ext cx="10899648" cy="1298448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</p:sp>
      <p:sp>
        <p:nvSpPr>
          <p:cNvPr id="22" name="Text"/>
          <p:cNvSpPr/>
          <p:nvPr/>
        </p:nvSpPr>
        <p:spPr>
          <a:xfrm>
            <a:off x="932688" y="4005072"/>
            <a:ext cx="155448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150" b="1">
                <a:solidFill>
                  <a:srgbClr val="2E7868"/>
                </a:solidFill>
                <a:latin typeface="Aptos"/>
              </a:rPr>
              <a:t>CORE QUESTION</a:t>
            </a:r>
            <a:endParaRPr lang="en-US" sz="1150"/>
          </a:p>
        </p:txBody>
      </p:sp>
      <p:sp>
        <p:nvSpPr>
          <p:cNvPr id="23" name="Text"/>
          <p:cNvSpPr/>
          <p:nvPr/>
        </p:nvSpPr>
        <p:spPr>
          <a:xfrm>
            <a:off x="2542032" y="3904488"/>
            <a:ext cx="8503920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2250" b="1">
                <a:solidFill>
                  <a:srgbClr val="163D37"/>
                </a:solidFill>
                <a:latin typeface="Aptos"/>
              </a:rPr>
              <a:t>Can a user see what changed the result—and why?</a:t>
            </a:r>
            <a:endParaRPr lang="en-US" sz="2250"/>
          </a:p>
        </p:txBody>
      </p:sp>
      <p:sp>
        <p:nvSpPr>
          <p:cNvPr id="24" name="Text"/>
          <p:cNvSpPr/>
          <p:nvPr/>
        </p:nvSpPr>
        <p:spPr>
          <a:xfrm>
            <a:off x="713232" y="537667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350" b="0">
                <a:solidFill>
                  <a:srgbClr val="64766F"/>
                </a:solidFill>
                <a:latin typeface="Aptos"/>
              </a:rPr>
              <a:t>This prototype demonstrates explainability concepts; it does not demonstrate medical accuracy.</a:t>
            </a:r>
            <a:endParaRPr lang="en-US" sz="13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7868"/>
          </a:solidFill>
          <a:ln>
            <a:noFill/>
          </a:ln>
        </p:spPr>
      </p:sp>
      <p:sp>
        <p:nvSpPr>
          <p:cNvPr id="4" name="Section label"/>
          <p:cNvSpPr/>
          <p:nvPr/>
        </p:nvSpPr>
        <p:spPr>
          <a:xfrm>
            <a:off x="621792" y="34747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50" b="1">
                <a:solidFill>
                  <a:srgbClr val="2E7868"/>
                </a:solidFill>
                <a:latin typeface="Aptos"/>
              </a:rPr>
              <a:t>02  /  THE CONCEPT</a:t>
            </a:r>
            <a:endParaRPr lang="en-US" sz="1050"/>
          </a:p>
        </p:txBody>
      </p:sp>
      <p:sp>
        <p:nvSpPr>
          <p:cNvPr id="5" name="Slide title"/>
          <p:cNvSpPr/>
          <p:nvPr/>
        </p:nvSpPr>
        <p:spPr>
          <a:xfrm>
            <a:off x="621792" y="685800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700" b="1">
                <a:solidFill>
                  <a:srgbClr val="163D37"/>
                </a:solidFill>
                <a:latin typeface="Aptos"/>
              </a:rPr>
              <a:t>Explainability means making the path visible.</a:t>
            </a:r>
            <a:endParaRPr lang="en-US" sz="2700"/>
          </a:p>
        </p:txBody>
      </p:sp>
      <p:sp>
        <p:nvSpPr>
          <p:cNvPr id="6" name="Slide subtitle"/>
          <p:cNvSpPr/>
          <p:nvPr/>
        </p:nvSpPr>
        <p:spPr>
          <a:xfrm>
            <a:off x="640080" y="1307592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50" b="0">
                <a:solidFill>
                  <a:srgbClr val="64766F"/>
                </a:solidFill>
                <a:latin typeface="Aptos"/>
              </a:rPr>
              <a:t>MedLens uses a small, transparent chain from input to explanation.</a:t>
            </a:r>
            <a:endParaRPr lang="en-US" sz="1450"/>
          </a:p>
        </p:txBody>
      </p:sp>
      <p:sp>
        <p:nvSpPr>
          <p:cNvPr id="7" name="Footer"/>
          <p:cNvSpPr/>
          <p:nvPr/>
        </p:nvSpPr>
        <p:spPr>
          <a:xfrm>
            <a:off x="621792" y="6473952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50" b="1">
                <a:solidFill>
                  <a:srgbClr val="64766F"/>
                </a:solidFill>
                <a:latin typeface="Aptos"/>
              </a:rPr>
              <a:t>MEDLENS  /  EXPLAINABLE AI PROJECT</a:t>
            </a:r>
            <a:endParaRPr lang="en-US" sz="850"/>
          </a:p>
        </p:txBody>
      </p:sp>
      <p:sp>
        <p:nvSpPr>
          <p:cNvPr id="8" name="Page number"/>
          <p:cNvSpPr/>
          <p:nvPr/>
        </p:nvSpPr>
        <p:spPr>
          <a:xfrm>
            <a:off x="10972800" y="6437376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50" b="0">
                <a:solidFill>
                  <a:srgbClr val="64766F"/>
                </a:solidFill>
                <a:latin typeface="Aptos"/>
              </a:rPr>
              <a:t>03 / 08</a:t>
            </a:r>
            <a:endParaRPr lang="en-US" sz="950"/>
          </a:p>
        </p:txBody>
      </p:sp>
      <p:sp>
        <p:nvSpPr>
          <p:cNvPr id="9" name="Card"/>
          <p:cNvSpPr/>
          <p:nvPr/>
        </p:nvSpPr>
        <p:spPr>
          <a:xfrm>
            <a:off x="658368" y="2212848"/>
            <a:ext cx="2212848" cy="1856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Card"/>
          <p:cNvSpPr/>
          <p:nvPr/>
        </p:nvSpPr>
        <p:spPr>
          <a:xfrm>
            <a:off x="841248" y="2432304"/>
            <a:ext cx="457200" cy="457200"/>
          </a:xfrm>
          <a:prstGeom prst="ellipse">
            <a:avLst/>
          </a:prstGeom>
          <a:solidFill>
            <a:srgbClr val="DCEFE7"/>
          </a:solidFill>
          <a:ln>
            <a:noFill/>
          </a:ln>
        </p:spPr>
      </p:sp>
      <p:sp>
        <p:nvSpPr>
          <p:cNvPr id="11" name="Text"/>
          <p:cNvSpPr/>
          <p:nvPr/>
        </p:nvSpPr>
        <p:spPr>
          <a:xfrm>
            <a:off x="841248" y="2441448"/>
            <a:ext cx="4572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00" b="1">
                <a:solidFill>
                  <a:srgbClr val="2E7868"/>
                </a:solidFill>
                <a:latin typeface="Aptos"/>
              </a:rPr>
              <a:t>01</a:t>
            </a:r>
            <a:endParaRPr lang="en-US" sz="1000"/>
          </a:p>
        </p:txBody>
      </p:sp>
      <p:sp>
        <p:nvSpPr>
          <p:cNvPr id="12" name="Text"/>
          <p:cNvSpPr/>
          <p:nvPr/>
        </p:nvSpPr>
        <p:spPr>
          <a:xfrm>
            <a:off x="841248" y="3017520"/>
            <a:ext cx="184708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530" b="1">
                <a:solidFill>
                  <a:srgbClr val="163D37"/>
                </a:solidFill>
                <a:latin typeface="Aptos"/>
              </a:rPr>
              <a:t>Fictional inputs</a:t>
            </a:r>
            <a:endParaRPr lang="en-US" sz="1530"/>
          </a:p>
        </p:txBody>
      </p:sp>
      <p:sp>
        <p:nvSpPr>
          <p:cNvPr id="13" name="Text"/>
          <p:cNvSpPr/>
          <p:nvPr/>
        </p:nvSpPr>
        <p:spPr>
          <a:xfrm>
            <a:off x="841248" y="3493008"/>
            <a:ext cx="184708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150" b="0">
                <a:solidFill>
                  <a:srgbClr val="64766F"/>
                </a:solidFill>
                <a:latin typeface="Aptos"/>
              </a:rPr>
              <a:t>Seven example indicators</a:t>
            </a:r>
            <a:endParaRPr lang="en-US" sz="1150"/>
          </a:p>
        </p:txBody>
      </p:sp>
      <p:sp>
        <p:nvSpPr>
          <p:cNvPr id="14" name="Text"/>
          <p:cNvSpPr/>
          <p:nvPr/>
        </p:nvSpPr>
        <p:spPr>
          <a:xfrm>
            <a:off x="2990088" y="286207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100" b="1">
                <a:solidFill>
                  <a:srgbClr val="2E7868"/>
                </a:solidFill>
                <a:latin typeface="Aptos"/>
              </a:rPr>
              <a:t>→</a:t>
            </a:r>
            <a:endParaRPr lang="en-US" sz="2100"/>
          </a:p>
        </p:txBody>
      </p:sp>
      <p:sp>
        <p:nvSpPr>
          <p:cNvPr id="15" name="Card"/>
          <p:cNvSpPr/>
          <p:nvPr/>
        </p:nvSpPr>
        <p:spPr>
          <a:xfrm>
            <a:off x="3538728" y="2212848"/>
            <a:ext cx="2212848" cy="1856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" name="Card"/>
          <p:cNvSpPr/>
          <p:nvPr/>
        </p:nvSpPr>
        <p:spPr>
          <a:xfrm>
            <a:off x="3721608" y="2432304"/>
            <a:ext cx="457200" cy="457200"/>
          </a:xfrm>
          <a:prstGeom prst="ellipse">
            <a:avLst/>
          </a:prstGeom>
          <a:solidFill>
            <a:srgbClr val="DCEFE7"/>
          </a:solidFill>
          <a:ln>
            <a:noFill/>
          </a:ln>
        </p:spPr>
      </p:sp>
      <p:sp>
        <p:nvSpPr>
          <p:cNvPr id="17" name="Text"/>
          <p:cNvSpPr/>
          <p:nvPr/>
        </p:nvSpPr>
        <p:spPr>
          <a:xfrm>
            <a:off x="3721608" y="2441448"/>
            <a:ext cx="4572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00" b="1">
                <a:solidFill>
                  <a:srgbClr val="2E7868"/>
                </a:solidFill>
                <a:latin typeface="Aptos"/>
              </a:rPr>
              <a:t>02</a:t>
            </a:r>
            <a:endParaRPr lang="en-US" sz="1000"/>
          </a:p>
        </p:txBody>
      </p:sp>
      <p:sp>
        <p:nvSpPr>
          <p:cNvPr id="18" name="Text"/>
          <p:cNvSpPr/>
          <p:nvPr/>
        </p:nvSpPr>
        <p:spPr>
          <a:xfrm>
            <a:off x="3721608" y="3017520"/>
            <a:ext cx="184708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530" b="1">
                <a:solidFill>
                  <a:srgbClr val="163D37"/>
                </a:solidFill>
                <a:latin typeface="Aptos"/>
              </a:rPr>
              <a:t>Fixed rules</a:t>
            </a:r>
            <a:endParaRPr lang="en-US" sz="1530"/>
          </a:p>
        </p:txBody>
      </p:sp>
      <p:sp>
        <p:nvSpPr>
          <p:cNvPr id="19" name="Text"/>
          <p:cNvSpPr/>
          <p:nvPr/>
        </p:nvSpPr>
        <p:spPr>
          <a:xfrm>
            <a:off x="3721608" y="3493008"/>
            <a:ext cx="184708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150" b="0">
                <a:solidFill>
                  <a:srgbClr val="64766F"/>
                </a:solidFill>
                <a:latin typeface="Aptos"/>
              </a:rPr>
              <a:t>Readable thresholds add points</a:t>
            </a:r>
            <a:endParaRPr lang="en-US" sz="1150"/>
          </a:p>
        </p:txBody>
      </p:sp>
      <p:sp>
        <p:nvSpPr>
          <p:cNvPr id="20" name="Text"/>
          <p:cNvSpPr/>
          <p:nvPr/>
        </p:nvSpPr>
        <p:spPr>
          <a:xfrm>
            <a:off x="5870448" y="286207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100" b="1">
                <a:solidFill>
                  <a:srgbClr val="2E7868"/>
                </a:solidFill>
                <a:latin typeface="Aptos"/>
              </a:rPr>
              <a:t>→</a:t>
            </a:r>
            <a:endParaRPr lang="en-US" sz="2100"/>
          </a:p>
        </p:txBody>
      </p:sp>
      <p:sp>
        <p:nvSpPr>
          <p:cNvPr id="21" name="Card"/>
          <p:cNvSpPr/>
          <p:nvPr/>
        </p:nvSpPr>
        <p:spPr>
          <a:xfrm>
            <a:off x="6419088" y="2212848"/>
            <a:ext cx="2212848" cy="1856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" name="Card"/>
          <p:cNvSpPr/>
          <p:nvPr/>
        </p:nvSpPr>
        <p:spPr>
          <a:xfrm>
            <a:off x="6601968" y="2432304"/>
            <a:ext cx="457200" cy="457200"/>
          </a:xfrm>
          <a:prstGeom prst="ellipse">
            <a:avLst/>
          </a:prstGeom>
          <a:solidFill>
            <a:srgbClr val="DCEFE7"/>
          </a:solidFill>
          <a:ln>
            <a:noFill/>
          </a:ln>
        </p:spPr>
      </p:sp>
      <p:sp>
        <p:nvSpPr>
          <p:cNvPr id="23" name="Text"/>
          <p:cNvSpPr/>
          <p:nvPr/>
        </p:nvSpPr>
        <p:spPr>
          <a:xfrm>
            <a:off x="6601968" y="2441448"/>
            <a:ext cx="4572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00" b="1">
                <a:solidFill>
                  <a:srgbClr val="2E7868"/>
                </a:solidFill>
                <a:latin typeface="Aptos"/>
              </a:rPr>
              <a:t>03</a:t>
            </a:r>
            <a:endParaRPr lang="en-US" sz="1000"/>
          </a:p>
        </p:txBody>
      </p:sp>
      <p:sp>
        <p:nvSpPr>
          <p:cNvPr id="24" name="Text"/>
          <p:cNvSpPr/>
          <p:nvPr/>
        </p:nvSpPr>
        <p:spPr>
          <a:xfrm>
            <a:off x="6601968" y="3017520"/>
            <a:ext cx="184708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530" b="1">
                <a:solidFill>
                  <a:srgbClr val="163D37"/>
                </a:solidFill>
                <a:latin typeface="Aptos"/>
              </a:rPr>
              <a:t>Point breakdown</a:t>
            </a:r>
            <a:endParaRPr lang="en-US" sz="1530"/>
          </a:p>
        </p:txBody>
      </p:sp>
      <p:sp>
        <p:nvSpPr>
          <p:cNvPr id="25" name="Text"/>
          <p:cNvSpPr/>
          <p:nvPr/>
        </p:nvSpPr>
        <p:spPr>
          <a:xfrm>
            <a:off x="6601968" y="3493008"/>
            <a:ext cx="184708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150" b="0">
                <a:solidFill>
                  <a:srgbClr val="64766F"/>
                </a:solidFill>
                <a:latin typeface="Aptos"/>
              </a:rPr>
              <a:t>Each factor shows its reason</a:t>
            </a:r>
            <a:endParaRPr lang="en-US" sz="1150"/>
          </a:p>
        </p:txBody>
      </p:sp>
      <p:sp>
        <p:nvSpPr>
          <p:cNvPr id="26" name="Text"/>
          <p:cNvSpPr/>
          <p:nvPr/>
        </p:nvSpPr>
        <p:spPr>
          <a:xfrm>
            <a:off x="8750808" y="286207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100" b="1">
                <a:solidFill>
                  <a:srgbClr val="2E7868"/>
                </a:solidFill>
                <a:latin typeface="Aptos"/>
              </a:rPr>
              <a:t>→</a:t>
            </a:r>
            <a:endParaRPr lang="en-US" sz="2100"/>
          </a:p>
        </p:txBody>
      </p:sp>
      <p:sp>
        <p:nvSpPr>
          <p:cNvPr id="27" name="Card"/>
          <p:cNvSpPr/>
          <p:nvPr/>
        </p:nvSpPr>
        <p:spPr>
          <a:xfrm>
            <a:off x="9299448" y="2212848"/>
            <a:ext cx="2212848" cy="1856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8" name="Card"/>
          <p:cNvSpPr/>
          <p:nvPr/>
        </p:nvSpPr>
        <p:spPr>
          <a:xfrm>
            <a:off x="9482328" y="2432304"/>
            <a:ext cx="457200" cy="457200"/>
          </a:xfrm>
          <a:prstGeom prst="ellipse">
            <a:avLst/>
          </a:prstGeom>
          <a:solidFill>
            <a:srgbClr val="DCEFE7"/>
          </a:solidFill>
          <a:ln>
            <a:noFill/>
          </a:ln>
        </p:spPr>
      </p:sp>
      <p:sp>
        <p:nvSpPr>
          <p:cNvPr id="29" name="Text"/>
          <p:cNvSpPr/>
          <p:nvPr/>
        </p:nvSpPr>
        <p:spPr>
          <a:xfrm>
            <a:off x="9482328" y="2441448"/>
            <a:ext cx="4572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00" b="1">
                <a:solidFill>
                  <a:srgbClr val="2E7868"/>
                </a:solidFill>
                <a:latin typeface="Aptos"/>
              </a:rPr>
              <a:t>04</a:t>
            </a:r>
            <a:endParaRPr lang="en-US" sz="1000"/>
          </a:p>
        </p:txBody>
      </p:sp>
      <p:sp>
        <p:nvSpPr>
          <p:cNvPr id="30" name="Text"/>
          <p:cNvSpPr/>
          <p:nvPr/>
        </p:nvSpPr>
        <p:spPr>
          <a:xfrm>
            <a:off x="9482328" y="3017520"/>
            <a:ext cx="184708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530" b="1">
                <a:solidFill>
                  <a:srgbClr val="163D37"/>
                </a:solidFill>
                <a:latin typeface="Aptos"/>
              </a:rPr>
              <a:t>Demo signal</a:t>
            </a:r>
            <a:endParaRPr lang="en-US" sz="1530"/>
          </a:p>
        </p:txBody>
      </p:sp>
      <p:sp>
        <p:nvSpPr>
          <p:cNvPr id="31" name="Text"/>
          <p:cNvSpPr/>
          <p:nvPr/>
        </p:nvSpPr>
        <p:spPr>
          <a:xfrm>
            <a:off x="9482328" y="3493008"/>
            <a:ext cx="184708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150" b="0">
                <a:solidFill>
                  <a:srgbClr val="64766F"/>
                </a:solidFill>
                <a:latin typeface="Aptos"/>
              </a:rPr>
              <a:t>A capped total and label</a:t>
            </a:r>
            <a:endParaRPr lang="en-US" sz="1150"/>
          </a:p>
        </p:txBody>
      </p:sp>
      <p:sp>
        <p:nvSpPr>
          <p:cNvPr id="32" name="Card"/>
          <p:cNvSpPr/>
          <p:nvPr/>
        </p:nvSpPr>
        <p:spPr>
          <a:xfrm>
            <a:off x="658368" y="4498848"/>
            <a:ext cx="10853928" cy="868680"/>
          </a:xfrm>
          <a:prstGeom prst="roundRect">
            <a:avLst/>
          </a:prstGeom>
          <a:solidFill>
            <a:srgbClr val="163D37"/>
          </a:solidFill>
          <a:ln>
            <a:noFill/>
          </a:ln>
        </p:spPr>
      </p:sp>
      <p:sp>
        <p:nvSpPr>
          <p:cNvPr id="33" name="Text"/>
          <p:cNvSpPr/>
          <p:nvPr/>
        </p:nvSpPr>
        <p:spPr>
          <a:xfrm>
            <a:off x="932688" y="4709160"/>
            <a:ext cx="10305288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ctr"/>
            <a:r>
              <a:rPr lang="en-US" sz="1750" b="1">
                <a:solidFill>
                  <a:srgbClr val="FFFFFF"/>
                </a:solidFill>
                <a:latin typeface="Aptos"/>
              </a:rPr>
              <a:t>Important: this is a rule-based demo, not a trained AI model.</a:t>
            </a:r>
            <a:endParaRPr lang="en-US" sz="17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7868"/>
          </a:solidFill>
          <a:ln>
            <a:noFill/>
          </a:ln>
        </p:spPr>
      </p:sp>
      <p:sp>
        <p:nvSpPr>
          <p:cNvPr id="4" name="Section label"/>
          <p:cNvSpPr/>
          <p:nvPr/>
        </p:nvSpPr>
        <p:spPr>
          <a:xfrm>
            <a:off x="621792" y="34747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50" b="1">
                <a:solidFill>
                  <a:srgbClr val="2E7868"/>
                </a:solidFill>
                <a:latin typeface="Aptos"/>
              </a:rPr>
              <a:t>03  /  THE USER JOURNEY</a:t>
            </a:r>
            <a:endParaRPr lang="en-US" sz="1050"/>
          </a:p>
        </p:txBody>
      </p:sp>
      <p:sp>
        <p:nvSpPr>
          <p:cNvPr id="5" name="Slide title"/>
          <p:cNvSpPr/>
          <p:nvPr/>
        </p:nvSpPr>
        <p:spPr>
          <a:xfrm>
            <a:off x="621792" y="685800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700" b="1">
                <a:solidFill>
                  <a:srgbClr val="163D37"/>
                </a:solidFill>
                <a:latin typeface="Aptos"/>
              </a:rPr>
              <a:t>From sample profile to an inspectable result.</a:t>
            </a:r>
            <a:endParaRPr lang="en-US" sz="2700"/>
          </a:p>
        </p:txBody>
      </p:sp>
      <p:sp>
        <p:nvSpPr>
          <p:cNvPr id="6" name="Slide subtitle"/>
          <p:cNvSpPr/>
          <p:nvPr/>
        </p:nvSpPr>
        <p:spPr>
          <a:xfrm>
            <a:off x="640080" y="1307592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50" b="0">
                <a:solidFill>
                  <a:srgbClr val="64766F"/>
                </a:solidFill>
                <a:latin typeface="Aptos"/>
              </a:rPr>
              <a:t>A short interaction makes both the workflow and the explanation visible.</a:t>
            </a:r>
            <a:endParaRPr lang="en-US" sz="1450"/>
          </a:p>
        </p:txBody>
      </p:sp>
      <p:sp>
        <p:nvSpPr>
          <p:cNvPr id="7" name="Footer"/>
          <p:cNvSpPr/>
          <p:nvPr/>
        </p:nvSpPr>
        <p:spPr>
          <a:xfrm>
            <a:off x="621792" y="6473952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50" b="1">
                <a:solidFill>
                  <a:srgbClr val="64766F"/>
                </a:solidFill>
                <a:latin typeface="Aptos"/>
              </a:rPr>
              <a:t>MEDLENS  /  EXPLAINABLE AI PROJECT</a:t>
            </a:r>
            <a:endParaRPr lang="en-US" sz="850"/>
          </a:p>
        </p:txBody>
      </p:sp>
      <p:sp>
        <p:nvSpPr>
          <p:cNvPr id="8" name="Page number"/>
          <p:cNvSpPr/>
          <p:nvPr/>
        </p:nvSpPr>
        <p:spPr>
          <a:xfrm>
            <a:off x="10972800" y="6437376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50" b="0">
                <a:solidFill>
                  <a:srgbClr val="64766F"/>
                </a:solidFill>
                <a:latin typeface="Aptos"/>
              </a:rPr>
              <a:t>04 / 08</a:t>
            </a:r>
            <a:endParaRPr lang="en-US" sz="950"/>
          </a:p>
        </p:txBody>
      </p:sp>
      <p:sp>
        <p:nvSpPr>
          <p:cNvPr id="9" name="Card"/>
          <p:cNvSpPr/>
          <p:nvPr/>
        </p:nvSpPr>
        <p:spPr>
          <a:xfrm>
            <a:off x="822960" y="1938528"/>
            <a:ext cx="475488" cy="475488"/>
          </a:xfrm>
          <a:prstGeom prst="ellipse">
            <a:avLst/>
          </a:prstGeom>
          <a:solidFill>
            <a:srgbClr val="2E7868"/>
          </a:solidFill>
          <a:ln>
            <a:noFill/>
          </a:ln>
        </p:spPr>
      </p:sp>
      <p:sp>
        <p:nvSpPr>
          <p:cNvPr id="10" name="Text"/>
          <p:cNvSpPr/>
          <p:nvPr/>
        </p:nvSpPr>
        <p:spPr>
          <a:xfrm>
            <a:off x="822960" y="1938528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50" b="1">
                <a:solidFill>
                  <a:srgbClr val="FFFFFF"/>
                </a:solidFill>
                <a:latin typeface="Aptos"/>
              </a:rPr>
              <a:t>1</a:t>
            </a:r>
            <a:endParaRPr lang="en-US" sz="1450"/>
          </a:p>
        </p:txBody>
      </p:sp>
      <p:sp>
        <p:nvSpPr>
          <p:cNvPr id="11" name="Text"/>
          <p:cNvSpPr/>
          <p:nvPr/>
        </p:nvSpPr>
        <p:spPr>
          <a:xfrm>
            <a:off x="1572768" y="1920240"/>
            <a:ext cx="290779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650" b="1">
                <a:solidFill>
                  <a:srgbClr val="163D37"/>
                </a:solidFill>
                <a:latin typeface="Aptos"/>
              </a:rPr>
              <a:t>Load a sample</a:t>
            </a:r>
            <a:endParaRPr lang="en-US" sz="1650"/>
          </a:p>
        </p:txBody>
      </p:sp>
      <p:sp>
        <p:nvSpPr>
          <p:cNvPr id="12" name="Text"/>
          <p:cNvSpPr/>
          <p:nvPr/>
        </p:nvSpPr>
        <p:spPr>
          <a:xfrm>
            <a:off x="4315968" y="1920240"/>
            <a:ext cx="676656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400" b="0">
                <a:solidFill>
                  <a:srgbClr val="64766F"/>
                </a:solidFill>
                <a:latin typeface="Aptos"/>
              </a:rPr>
              <a:t>Start with fictional values.</a:t>
            </a:r>
            <a:endParaRPr lang="en-US" sz="1400"/>
          </a:p>
        </p:txBody>
      </p:sp>
      <p:sp>
        <p:nvSpPr>
          <p:cNvPr id="13" name="Step connector"/>
          <p:cNvSpPr/>
          <p:nvPr/>
        </p:nvSpPr>
        <p:spPr>
          <a:xfrm>
            <a:off x="1051560" y="2423160"/>
            <a:ext cx="22860" cy="320040"/>
          </a:xfrm>
          <a:prstGeom prst="rect">
            <a:avLst/>
          </a:prstGeom>
          <a:solidFill>
            <a:srgbClr val="DCEFE7"/>
          </a:solidFill>
          <a:ln>
            <a:noFill/>
          </a:ln>
        </p:spPr>
      </p:sp>
      <p:sp>
        <p:nvSpPr>
          <p:cNvPr id="14" name="Card"/>
          <p:cNvSpPr/>
          <p:nvPr/>
        </p:nvSpPr>
        <p:spPr>
          <a:xfrm>
            <a:off x="822960" y="2761488"/>
            <a:ext cx="475488" cy="475488"/>
          </a:xfrm>
          <a:prstGeom prst="ellipse">
            <a:avLst/>
          </a:prstGeom>
          <a:solidFill>
            <a:srgbClr val="2E7868"/>
          </a:solidFill>
          <a:ln>
            <a:noFill/>
          </a:ln>
        </p:spPr>
      </p:sp>
      <p:sp>
        <p:nvSpPr>
          <p:cNvPr id="15" name="Text"/>
          <p:cNvSpPr/>
          <p:nvPr/>
        </p:nvSpPr>
        <p:spPr>
          <a:xfrm>
            <a:off x="822960" y="2761488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50" b="1">
                <a:solidFill>
                  <a:srgbClr val="FFFFFF"/>
                </a:solidFill>
                <a:latin typeface="Aptos"/>
              </a:rPr>
              <a:t>2</a:t>
            </a:r>
            <a:endParaRPr lang="en-US" sz="1450"/>
          </a:p>
        </p:txBody>
      </p:sp>
      <p:sp>
        <p:nvSpPr>
          <p:cNvPr id="16" name="Text"/>
          <p:cNvSpPr/>
          <p:nvPr/>
        </p:nvSpPr>
        <p:spPr>
          <a:xfrm>
            <a:off x="1572768" y="2743200"/>
            <a:ext cx="290779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650" b="1">
                <a:solidFill>
                  <a:srgbClr val="163D37"/>
                </a:solidFill>
                <a:latin typeface="Aptos"/>
              </a:rPr>
              <a:t>Check the inputs</a:t>
            </a:r>
            <a:endParaRPr lang="en-US" sz="1650"/>
          </a:p>
        </p:txBody>
      </p:sp>
      <p:sp>
        <p:nvSpPr>
          <p:cNvPr id="17" name="Text"/>
          <p:cNvSpPr/>
          <p:nvPr/>
        </p:nvSpPr>
        <p:spPr>
          <a:xfrm>
            <a:off x="4315968" y="2743200"/>
            <a:ext cx="676656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400" b="0">
                <a:solidFill>
                  <a:srgbClr val="64766F"/>
                </a:solidFill>
                <a:latin typeface="Aptos"/>
              </a:rPr>
              <a:t>The service validates types and ranges.</a:t>
            </a:r>
            <a:endParaRPr lang="en-US" sz="1400"/>
          </a:p>
        </p:txBody>
      </p:sp>
      <p:sp>
        <p:nvSpPr>
          <p:cNvPr id="18" name="Step connector"/>
          <p:cNvSpPr/>
          <p:nvPr/>
        </p:nvSpPr>
        <p:spPr>
          <a:xfrm>
            <a:off x="1051560" y="3246120"/>
            <a:ext cx="22860" cy="320040"/>
          </a:xfrm>
          <a:prstGeom prst="rect">
            <a:avLst/>
          </a:prstGeom>
          <a:solidFill>
            <a:srgbClr val="DCEFE7"/>
          </a:solidFill>
          <a:ln>
            <a:noFill/>
          </a:ln>
        </p:spPr>
      </p:sp>
      <p:sp>
        <p:nvSpPr>
          <p:cNvPr id="19" name="Card"/>
          <p:cNvSpPr/>
          <p:nvPr/>
        </p:nvSpPr>
        <p:spPr>
          <a:xfrm>
            <a:off x="822960" y="3584448"/>
            <a:ext cx="475488" cy="475488"/>
          </a:xfrm>
          <a:prstGeom prst="ellipse">
            <a:avLst/>
          </a:prstGeom>
          <a:solidFill>
            <a:srgbClr val="2E7868"/>
          </a:solidFill>
          <a:ln>
            <a:noFill/>
          </a:ln>
        </p:spPr>
      </p:sp>
      <p:sp>
        <p:nvSpPr>
          <p:cNvPr id="20" name="Text"/>
          <p:cNvSpPr/>
          <p:nvPr/>
        </p:nvSpPr>
        <p:spPr>
          <a:xfrm>
            <a:off x="822960" y="3584448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50" b="1">
                <a:solidFill>
                  <a:srgbClr val="FFFFFF"/>
                </a:solidFill>
                <a:latin typeface="Aptos"/>
              </a:rPr>
              <a:t>3</a:t>
            </a:r>
            <a:endParaRPr lang="en-US" sz="1450"/>
          </a:p>
        </p:txBody>
      </p:sp>
      <p:sp>
        <p:nvSpPr>
          <p:cNvPr id="21" name="Text"/>
          <p:cNvSpPr/>
          <p:nvPr/>
        </p:nvSpPr>
        <p:spPr>
          <a:xfrm>
            <a:off x="1572768" y="3566160"/>
            <a:ext cx="290779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650" b="1">
                <a:solidFill>
                  <a:srgbClr val="163D37"/>
                </a:solidFill>
                <a:latin typeface="Aptos"/>
              </a:rPr>
              <a:t>Apply the rules</a:t>
            </a:r>
            <a:endParaRPr lang="en-US" sz="1650"/>
          </a:p>
        </p:txBody>
      </p:sp>
      <p:sp>
        <p:nvSpPr>
          <p:cNvPr id="22" name="Text"/>
          <p:cNvSpPr/>
          <p:nvPr/>
        </p:nvSpPr>
        <p:spPr>
          <a:xfrm>
            <a:off x="4315968" y="3566160"/>
            <a:ext cx="676656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400" b="0">
                <a:solidFill>
                  <a:srgbClr val="64766F"/>
                </a:solidFill>
                <a:latin typeface="Aptos"/>
              </a:rPr>
              <a:t>Each indicator earns its configured points.</a:t>
            </a:r>
            <a:endParaRPr lang="en-US" sz="1400"/>
          </a:p>
        </p:txBody>
      </p:sp>
      <p:sp>
        <p:nvSpPr>
          <p:cNvPr id="23" name="Step connector"/>
          <p:cNvSpPr/>
          <p:nvPr/>
        </p:nvSpPr>
        <p:spPr>
          <a:xfrm>
            <a:off x="1051560" y="4069080"/>
            <a:ext cx="22860" cy="320040"/>
          </a:xfrm>
          <a:prstGeom prst="rect">
            <a:avLst/>
          </a:prstGeom>
          <a:solidFill>
            <a:srgbClr val="DCEFE7"/>
          </a:solidFill>
          <a:ln>
            <a:noFill/>
          </a:ln>
        </p:spPr>
      </p:sp>
      <p:sp>
        <p:nvSpPr>
          <p:cNvPr id="24" name="Card"/>
          <p:cNvSpPr/>
          <p:nvPr/>
        </p:nvSpPr>
        <p:spPr>
          <a:xfrm>
            <a:off x="822960" y="4407408"/>
            <a:ext cx="475488" cy="475488"/>
          </a:xfrm>
          <a:prstGeom prst="ellipse">
            <a:avLst/>
          </a:prstGeom>
          <a:solidFill>
            <a:srgbClr val="2E7868"/>
          </a:solidFill>
          <a:ln>
            <a:noFill/>
          </a:ln>
        </p:spPr>
      </p:sp>
      <p:sp>
        <p:nvSpPr>
          <p:cNvPr id="25" name="Text"/>
          <p:cNvSpPr/>
          <p:nvPr/>
        </p:nvSpPr>
        <p:spPr>
          <a:xfrm>
            <a:off x="822960" y="4407408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50" b="1">
                <a:solidFill>
                  <a:srgbClr val="FFFFFF"/>
                </a:solidFill>
                <a:latin typeface="Aptos"/>
              </a:rPr>
              <a:t>4</a:t>
            </a:r>
            <a:endParaRPr lang="en-US" sz="1450"/>
          </a:p>
        </p:txBody>
      </p:sp>
      <p:sp>
        <p:nvSpPr>
          <p:cNvPr id="26" name="Text"/>
          <p:cNvSpPr/>
          <p:nvPr/>
        </p:nvSpPr>
        <p:spPr>
          <a:xfrm>
            <a:off x="1572768" y="4389120"/>
            <a:ext cx="290779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650" b="1">
                <a:solidFill>
                  <a:srgbClr val="163D37"/>
                </a:solidFill>
                <a:latin typeface="Aptos"/>
              </a:rPr>
              <a:t>Read the explanation</a:t>
            </a:r>
            <a:endParaRPr lang="en-US" sz="1650"/>
          </a:p>
        </p:txBody>
      </p:sp>
      <p:sp>
        <p:nvSpPr>
          <p:cNvPr id="27" name="Text"/>
          <p:cNvSpPr/>
          <p:nvPr/>
        </p:nvSpPr>
        <p:spPr>
          <a:xfrm>
            <a:off x="4315968" y="4389120"/>
            <a:ext cx="676656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400" b="0">
                <a:solidFill>
                  <a:srgbClr val="64766F"/>
                </a:solidFill>
                <a:latin typeface="Aptos"/>
              </a:rPr>
              <a:t>See the total, label, and factor-by-factor reasons.</a:t>
            </a:r>
            <a:endParaRPr lang="en-US" sz="1400"/>
          </a:p>
        </p:txBody>
      </p:sp>
      <p:sp>
        <p:nvSpPr>
          <p:cNvPr id="28" name="Card"/>
          <p:cNvSpPr/>
          <p:nvPr/>
        </p:nvSpPr>
        <p:spPr>
          <a:xfrm>
            <a:off x="658368" y="5422392"/>
            <a:ext cx="10881360" cy="530352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</p:sp>
      <p:sp>
        <p:nvSpPr>
          <p:cNvPr id="29" name="Text"/>
          <p:cNvSpPr/>
          <p:nvPr/>
        </p:nvSpPr>
        <p:spPr>
          <a:xfrm>
            <a:off x="868680" y="5504688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ctr"/>
            <a:r>
              <a:rPr lang="en-US" sz="1325" b="1">
                <a:solidFill>
                  <a:srgbClr val="163D37"/>
                </a:solidFill>
                <a:latin typeface="Aptos"/>
              </a:rPr>
              <a:t>The interface displays the contribution and the rule behind it—not just a final number.</a:t>
            </a:r>
            <a:endParaRPr lang="en-US" sz="132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7868"/>
          </a:solidFill>
          <a:ln>
            <a:noFill/>
          </a:ln>
        </p:spPr>
      </p:sp>
      <p:sp>
        <p:nvSpPr>
          <p:cNvPr id="4" name="Section label"/>
          <p:cNvSpPr/>
          <p:nvPr/>
        </p:nvSpPr>
        <p:spPr>
          <a:xfrm>
            <a:off x="621792" y="34747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50" b="1">
                <a:solidFill>
                  <a:srgbClr val="2E7868"/>
                </a:solidFill>
                <a:latin typeface="Aptos"/>
              </a:rPr>
              <a:t>04  /  INSIDE THE RULES</a:t>
            </a:r>
            <a:endParaRPr lang="en-US" sz="1050"/>
          </a:p>
        </p:txBody>
      </p:sp>
      <p:sp>
        <p:nvSpPr>
          <p:cNvPr id="5" name="Slide title"/>
          <p:cNvSpPr/>
          <p:nvPr/>
        </p:nvSpPr>
        <p:spPr>
          <a:xfrm>
            <a:off x="621792" y="685800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700" b="1">
                <a:solidFill>
                  <a:srgbClr val="163D37"/>
                </a:solidFill>
                <a:latin typeface="Aptos"/>
              </a:rPr>
              <a:t>Every indicator has a visible point rule.</a:t>
            </a:r>
            <a:endParaRPr lang="en-US" sz="2700"/>
          </a:p>
        </p:txBody>
      </p:sp>
      <p:sp>
        <p:nvSpPr>
          <p:cNvPr id="6" name="Slide subtitle"/>
          <p:cNvSpPr/>
          <p:nvPr/>
        </p:nvSpPr>
        <p:spPr>
          <a:xfrm>
            <a:off x="640080" y="1307592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50" b="0">
                <a:solidFill>
                  <a:srgbClr val="64766F"/>
                </a:solidFill>
                <a:latin typeface="Aptos"/>
              </a:rPr>
              <a:t>The thresholds below are illustrative and exist only for this classroom demonstration.</a:t>
            </a:r>
            <a:endParaRPr lang="en-US" sz="1450"/>
          </a:p>
        </p:txBody>
      </p:sp>
      <p:sp>
        <p:nvSpPr>
          <p:cNvPr id="7" name="Footer"/>
          <p:cNvSpPr/>
          <p:nvPr/>
        </p:nvSpPr>
        <p:spPr>
          <a:xfrm>
            <a:off x="621792" y="6473952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50" b="1">
                <a:solidFill>
                  <a:srgbClr val="64766F"/>
                </a:solidFill>
                <a:latin typeface="Aptos"/>
              </a:rPr>
              <a:t>MEDLENS  /  EXPLAINABLE AI PROJECT</a:t>
            </a:r>
            <a:endParaRPr lang="en-US" sz="850"/>
          </a:p>
        </p:txBody>
      </p:sp>
      <p:sp>
        <p:nvSpPr>
          <p:cNvPr id="8" name="Page number"/>
          <p:cNvSpPr/>
          <p:nvPr/>
        </p:nvSpPr>
        <p:spPr>
          <a:xfrm>
            <a:off x="10972800" y="6437376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50" b="0">
                <a:solidFill>
                  <a:srgbClr val="64766F"/>
                </a:solidFill>
                <a:latin typeface="Aptos"/>
              </a:rPr>
              <a:t>05 / 08</a:t>
            </a:r>
            <a:endParaRPr lang="en-US" sz="950"/>
          </a:p>
        </p:txBody>
      </p:sp>
      <p:sp>
        <p:nvSpPr>
          <p:cNvPr id="9" name="Text"/>
          <p:cNvSpPr/>
          <p:nvPr/>
        </p:nvSpPr>
        <p:spPr>
          <a:xfrm>
            <a:off x="822960" y="188366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025" b="1">
                <a:solidFill>
                  <a:srgbClr val="2E7868"/>
                </a:solidFill>
                <a:latin typeface="Aptos"/>
              </a:rPr>
              <a:t>INDICATOR</a:t>
            </a:r>
            <a:endParaRPr lang="en-US" sz="1025"/>
          </a:p>
        </p:txBody>
      </p:sp>
      <p:sp>
        <p:nvSpPr>
          <p:cNvPr id="10" name="Text"/>
          <p:cNvSpPr/>
          <p:nvPr/>
        </p:nvSpPr>
        <p:spPr>
          <a:xfrm>
            <a:off x="4114800" y="1883664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025" b="1">
                <a:solidFill>
                  <a:srgbClr val="2E7868"/>
                </a:solidFill>
                <a:latin typeface="Aptos"/>
              </a:rPr>
              <a:t>EXAMPLE RULE</a:t>
            </a:r>
            <a:endParaRPr lang="en-US" sz="1025"/>
          </a:p>
        </p:txBody>
      </p:sp>
      <p:sp>
        <p:nvSpPr>
          <p:cNvPr id="11" name="Text"/>
          <p:cNvSpPr/>
          <p:nvPr/>
        </p:nvSpPr>
        <p:spPr>
          <a:xfrm>
            <a:off x="9326880" y="1883664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025" b="1">
                <a:solidFill>
                  <a:srgbClr val="2E7868"/>
                </a:solidFill>
                <a:latin typeface="Aptos"/>
              </a:rPr>
              <a:t>MAX POINTS</a:t>
            </a:r>
            <a:endParaRPr lang="en-US" sz="1025"/>
          </a:p>
        </p:txBody>
      </p:sp>
      <p:sp>
        <p:nvSpPr>
          <p:cNvPr id="12" name="Card"/>
          <p:cNvSpPr/>
          <p:nvPr/>
        </p:nvSpPr>
        <p:spPr>
          <a:xfrm>
            <a:off x="658368" y="2221992"/>
            <a:ext cx="1088136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"/>
          <p:cNvSpPr/>
          <p:nvPr/>
        </p:nvSpPr>
        <p:spPr>
          <a:xfrm>
            <a:off x="841248" y="2240280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175" b="1">
                <a:solidFill>
                  <a:srgbClr val="163D37"/>
                </a:solidFill>
                <a:latin typeface="Aptos"/>
              </a:rPr>
              <a:t>Systolic blood pressure</a:t>
            </a:r>
            <a:endParaRPr lang="en-US" sz="1175"/>
          </a:p>
        </p:txBody>
      </p:sp>
      <p:sp>
        <p:nvSpPr>
          <p:cNvPr id="14" name="Text"/>
          <p:cNvSpPr/>
          <p:nvPr/>
        </p:nvSpPr>
        <p:spPr>
          <a:xfrm>
            <a:off x="4114800" y="2240280"/>
            <a:ext cx="48920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125" b="0">
                <a:solidFill>
                  <a:srgbClr val="20312D"/>
                </a:solidFill>
                <a:latin typeface="Aptos"/>
              </a:rPr>
              <a:t>130–139: +12  |  ≥140: +25</a:t>
            </a:r>
            <a:endParaRPr lang="en-US" sz="1125"/>
          </a:p>
        </p:txBody>
      </p:sp>
      <p:sp>
        <p:nvSpPr>
          <p:cNvPr id="15" name="Text"/>
          <p:cNvSpPr/>
          <p:nvPr/>
        </p:nvSpPr>
        <p:spPr>
          <a:xfrm>
            <a:off x="9363456" y="2240280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ctr"/>
            <a:r>
              <a:rPr lang="en-US" sz="1175" b="1">
                <a:solidFill>
                  <a:srgbClr val="2E7868"/>
                </a:solidFill>
                <a:latin typeface="Aptos"/>
              </a:rPr>
              <a:t>25</a:t>
            </a:r>
            <a:endParaRPr lang="en-US" sz="1175"/>
          </a:p>
        </p:txBody>
      </p:sp>
      <p:sp>
        <p:nvSpPr>
          <p:cNvPr id="16" name="Card"/>
          <p:cNvSpPr/>
          <p:nvPr/>
        </p:nvSpPr>
        <p:spPr>
          <a:xfrm>
            <a:off x="658368" y="2660904"/>
            <a:ext cx="10881360" cy="384048"/>
          </a:xfrm>
          <a:prstGeom prst="roundRect">
            <a:avLst/>
          </a:prstGeom>
          <a:solidFill>
            <a:srgbClr val="EAF1ED"/>
          </a:solidFill>
          <a:ln>
            <a:noFill/>
          </a:ln>
        </p:spPr>
      </p:sp>
      <p:sp>
        <p:nvSpPr>
          <p:cNvPr id="17" name="Text"/>
          <p:cNvSpPr/>
          <p:nvPr/>
        </p:nvSpPr>
        <p:spPr>
          <a:xfrm>
            <a:off x="841248" y="2679192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175" b="1">
                <a:solidFill>
                  <a:srgbClr val="163D37"/>
                </a:solidFill>
                <a:latin typeface="Aptos"/>
              </a:rPr>
              <a:t>Fasting glucose</a:t>
            </a:r>
            <a:endParaRPr lang="en-US" sz="1175"/>
          </a:p>
        </p:txBody>
      </p:sp>
      <p:sp>
        <p:nvSpPr>
          <p:cNvPr id="18" name="Text"/>
          <p:cNvSpPr/>
          <p:nvPr/>
        </p:nvSpPr>
        <p:spPr>
          <a:xfrm>
            <a:off x="4114800" y="2679192"/>
            <a:ext cx="48920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125" b="0">
                <a:solidFill>
                  <a:srgbClr val="20312D"/>
                </a:solidFill>
                <a:latin typeface="Aptos"/>
              </a:rPr>
              <a:t>100–125: +10  |  ≥126: +20</a:t>
            </a:r>
            <a:endParaRPr lang="en-US" sz="1125"/>
          </a:p>
        </p:txBody>
      </p:sp>
      <p:sp>
        <p:nvSpPr>
          <p:cNvPr id="19" name="Text"/>
          <p:cNvSpPr/>
          <p:nvPr/>
        </p:nvSpPr>
        <p:spPr>
          <a:xfrm>
            <a:off x="9363456" y="2679192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ctr"/>
            <a:r>
              <a:rPr lang="en-US" sz="1175" b="1">
                <a:solidFill>
                  <a:srgbClr val="2E7868"/>
                </a:solidFill>
                <a:latin typeface="Aptos"/>
              </a:rPr>
              <a:t>20</a:t>
            </a:r>
            <a:endParaRPr lang="en-US" sz="1175"/>
          </a:p>
        </p:txBody>
      </p:sp>
      <p:sp>
        <p:nvSpPr>
          <p:cNvPr id="20" name="Card"/>
          <p:cNvSpPr/>
          <p:nvPr/>
        </p:nvSpPr>
        <p:spPr>
          <a:xfrm>
            <a:off x="658368" y="3099816"/>
            <a:ext cx="1088136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" name="Text"/>
          <p:cNvSpPr/>
          <p:nvPr/>
        </p:nvSpPr>
        <p:spPr>
          <a:xfrm>
            <a:off x="841248" y="3118104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175" b="1">
                <a:solidFill>
                  <a:srgbClr val="163D37"/>
                </a:solidFill>
                <a:latin typeface="Aptos"/>
              </a:rPr>
              <a:t>Body mass index</a:t>
            </a:r>
            <a:endParaRPr lang="en-US" sz="1175"/>
          </a:p>
        </p:txBody>
      </p:sp>
      <p:sp>
        <p:nvSpPr>
          <p:cNvPr id="22" name="Text"/>
          <p:cNvSpPr/>
          <p:nvPr/>
        </p:nvSpPr>
        <p:spPr>
          <a:xfrm>
            <a:off x="4114800" y="3118104"/>
            <a:ext cx="48920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125" b="0">
                <a:solidFill>
                  <a:srgbClr val="20312D"/>
                </a:solidFill>
                <a:latin typeface="Aptos"/>
              </a:rPr>
              <a:t>25–29.9: +7  |  ≥30: +15</a:t>
            </a:r>
            <a:endParaRPr lang="en-US" sz="1125"/>
          </a:p>
        </p:txBody>
      </p:sp>
      <p:sp>
        <p:nvSpPr>
          <p:cNvPr id="23" name="Text"/>
          <p:cNvSpPr/>
          <p:nvPr/>
        </p:nvSpPr>
        <p:spPr>
          <a:xfrm>
            <a:off x="9363456" y="3118104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ctr"/>
            <a:r>
              <a:rPr lang="en-US" sz="1175" b="1">
                <a:solidFill>
                  <a:srgbClr val="2E7868"/>
                </a:solidFill>
                <a:latin typeface="Aptos"/>
              </a:rPr>
              <a:t>15</a:t>
            </a:r>
            <a:endParaRPr lang="en-US" sz="1175"/>
          </a:p>
        </p:txBody>
      </p:sp>
      <p:sp>
        <p:nvSpPr>
          <p:cNvPr id="24" name="Card"/>
          <p:cNvSpPr/>
          <p:nvPr/>
        </p:nvSpPr>
        <p:spPr>
          <a:xfrm>
            <a:off x="658368" y="3538728"/>
            <a:ext cx="10881360" cy="384048"/>
          </a:xfrm>
          <a:prstGeom prst="roundRect">
            <a:avLst/>
          </a:prstGeom>
          <a:solidFill>
            <a:srgbClr val="EAF1ED"/>
          </a:solidFill>
          <a:ln>
            <a:noFill/>
          </a:ln>
        </p:spPr>
      </p:sp>
      <p:sp>
        <p:nvSpPr>
          <p:cNvPr id="25" name="Text"/>
          <p:cNvSpPr/>
          <p:nvPr/>
        </p:nvSpPr>
        <p:spPr>
          <a:xfrm>
            <a:off x="841248" y="3557016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175" b="1">
                <a:solidFill>
                  <a:srgbClr val="163D37"/>
                </a:solidFill>
                <a:latin typeface="Aptos"/>
              </a:rPr>
              <a:t>Smoking</a:t>
            </a:r>
            <a:endParaRPr lang="en-US" sz="1175"/>
          </a:p>
        </p:txBody>
      </p:sp>
      <p:sp>
        <p:nvSpPr>
          <p:cNvPr id="26" name="Text"/>
          <p:cNvSpPr/>
          <p:nvPr/>
        </p:nvSpPr>
        <p:spPr>
          <a:xfrm>
            <a:off x="4114800" y="3557016"/>
            <a:ext cx="48920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125" b="0">
                <a:solidFill>
                  <a:srgbClr val="20312D"/>
                </a:solidFill>
                <a:latin typeface="Aptos"/>
              </a:rPr>
              <a:t>Yes: +15</a:t>
            </a:r>
            <a:endParaRPr lang="en-US" sz="1125"/>
          </a:p>
        </p:txBody>
      </p:sp>
      <p:sp>
        <p:nvSpPr>
          <p:cNvPr id="27" name="Text"/>
          <p:cNvSpPr/>
          <p:nvPr/>
        </p:nvSpPr>
        <p:spPr>
          <a:xfrm>
            <a:off x="9363456" y="3557016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ctr"/>
            <a:r>
              <a:rPr lang="en-US" sz="1175" b="1">
                <a:solidFill>
                  <a:srgbClr val="2E7868"/>
                </a:solidFill>
                <a:latin typeface="Aptos"/>
              </a:rPr>
              <a:t>15</a:t>
            </a:r>
            <a:endParaRPr lang="en-US" sz="1175"/>
          </a:p>
        </p:txBody>
      </p:sp>
      <p:sp>
        <p:nvSpPr>
          <p:cNvPr id="28" name="Card"/>
          <p:cNvSpPr/>
          <p:nvPr/>
        </p:nvSpPr>
        <p:spPr>
          <a:xfrm>
            <a:off x="658368" y="3977640"/>
            <a:ext cx="1088136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9" name="Text"/>
          <p:cNvSpPr/>
          <p:nvPr/>
        </p:nvSpPr>
        <p:spPr>
          <a:xfrm>
            <a:off x="841248" y="3995928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175" b="1">
                <a:solidFill>
                  <a:srgbClr val="163D37"/>
                </a:solidFill>
                <a:latin typeface="Aptos"/>
              </a:rPr>
              <a:t>Physical activity</a:t>
            </a:r>
            <a:endParaRPr lang="en-US" sz="1175"/>
          </a:p>
        </p:txBody>
      </p:sp>
      <p:sp>
        <p:nvSpPr>
          <p:cNvPr id="30" name="Text"/>
          <p:cNvSpPr/>
          <p:nvPr/>
        </p:nvSpPr>
        <p:spPr>
          <a:xfrm>
            <a:off x="4114800" y="3995928"/>
            <a:ext cx="48920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125" b="0">
                <a:solidFill>
                  <a:srgbClr val="20312D"/>
                </a:solidFill>
                <a:latin typeface="Aptos"/>
              </a:rPr>
              <a:t>No: +10</a:t>
            </a:r>
            <a:endParaRPr lang="en-US" sz="1125"/>
          </a:p>
        </p:txBody>
      </p:sp>
      <p:sp>
        <p:nvSpPr>
          <p:cNvPr id="31" name="Text"/>
          <p:cNvSpPr/>
          <p:nvPr/>
        </p:nvSpPr>
        <p:spPr>
          <a:xfrm>
            <a:off x="9363456" y="399592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ctr"/>
            <a:r>
              <a:rPr lang="en-US" sz="1175" b="1">
                <a:solidFill>
                  <a:srgbClr val="2E7868"/>
                </a:solidFill>
                <a:latin typeface="Aptos"/>
              </a:rPr>
              <a:t>10</a:t>
            </a:r>
            <a:endParaRPr lang="en-US" sz="1175"/>
          </a:p>
        </p:txBody>
      </p:sp>
      <p:sp>
        <p:nvSpPr>
          <p:cNvPr id="32" name="Card"/>
          <p:cNvSpPr/>
          <p:nvPr/>
        </p:nvSpPr>
        <p:spPr>
          <a:xfrm>
            <a:off x="658368" y="4416552"/>
            <a:ext cx="10881360" cy="384048"/>
          </a:xfrm>
          <a:prstGeom prst="roundRect">
            <a:avLst/>
          </a:prstGeom>
          <a:solidFill>
            <a:srgbClr val="EAF1ED"/>
          </a:solidFill>
          <a:ln>
            <a:noFill/>
          </a:ln>
        </p:spPr>
      </p:sp>
      <p:sp>
        <p:nvSpPr>
          <p:cNvPr id="33" name="Text"/>
          <p:cNvSpPr/>
          <p:nvPr/>
        </p:nvSpPr>
        <p:spPr>
          <a:xfrm>
            <a:off x="841248" y="4434840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175" b="1">
                <a:solidFill>
                  <a:srgbClr val="163D37"/>
                </a:solidFill>
                <a:latin typeface="Aptos"/>
              </a:rPr>
              <a:t>Age</a:t>
            </a:r>
            <a:endParaRPr lang="en-US" sz="1175"/>
          </a:p>
        </p:txBody>
      </p:sp>
      <p:sp>
        <p:nvSpPr>
          <p:cNvPr id="34" name="Text"/>
          <p:cNvSpPr/>
          <p:nvPr/>
        </p:nvSpPr>
        <p:spPr>
          <a:xfrm>
            <a:off x="4114800" y="4434840"/>
            <a:ext cx="48920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125" b="0">
                <a:solidFill>
                  <a:srgbClr val="20312D"/>
                </a:solidFill>
                <a:latin typeface="Aptos"/>
              </a:rPr>
              <a:t>45–64: +5  |  ≥65: +10</a:t>
            </a:r>
            <a:endParaRPr lang="en-US" sz="1125"/>
          </a:p>
        </p:txBody>
      </p:sp>
      <p:sp>
        <p:nvSpPr>
          <p:cNvPr id="35" name="Text"/>
          <p:cNvSpPr/>
          <p:nvPr/>
        </p:nvSpPr>
        <p:spPr>
          <a:xfrm>
            <a:off x="9363456" y="4434840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ctr"/>
            <a:r>
              <a:rPr lang="en-US" sz="1175" b="1">
                <a:solidFill>
                  <a:srgbClr val="2E7868"/>
                </a:solidFill>
                <a:latin typeface="Aptos"/>
              </a:rPr>
              <a:t>10</a:t>
            </a:r>
            <a:endParaRPr lang="en-US" sz="1175"/>
          </a:p>
        </p:txBody>
      </p:sp>
      <p:sp>
        <p:nvSpPr>
          <p:cNvPr id="36" name="Card"/>
          <p:cNvSpPr/>
          <p:nvPr/>
        </p:nvSpPr>
        <p:spPr>
          <a:xfrm>
            <a:off x="658368" y="4855464"/>
            <a:ext cx="1088136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7" name="Text"/>
          <p:cNvSpPr/>
          <p:nvPr/>
        </p:nvSpPr>
        <p:spPr>
          <a:xfrm>
            <a:off x="841248" y="4873752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175" b="1">
                <a:solidFill>
                  <a:srgbClr val="163D37"/>
                </a:solidFill>
                <a:latin typeface="Aptos"/>
              </a:rPr>
              <a:t>Resting heart rate</a:t>
            </a:r>
            <a:endParaRPr lang="en-US" sz="1175"/>
          </a:p>
        </p:txBody>
      </p:sp>
      <p:sp>
        <p:nvSpPr>
          <p:cNvPr id="38" name="Text"/>
          <p:cNvSpPr/>
          <p:nvPr/>
        </p:nvSpPr>
        <p:spPr>
          <a:xfrm>
            <a:off x="4114800" y="4873752"/>
            <a:ext cx="48920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125" b="0">
                <a:solidFill>
                  <a:srgbClr val="20312D"/>
                </a:solidFill>
                <a:latin typeface="Aptos"/>
              </a:rPr>
              <a:t>&gt;100 bpm: +5</a:t>
            </a:r>
            <a:endParaRPr lang="en-US" sz="1125"/>
          </a:p>
        </p:txBody>
      </p:sp>
      <p:sp>
        <p:nvSpPr>
          <p:cNvPr id="39" name="Text"/>
          <p:cNvSpPr/>
          <p:nvPr/>
        </p:nvSpPr>
        <p:spPr>
          <a:xfrm>
            <a:off x="9363456" y="4873752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ctr"/>
            <a:r>
              <a:rPr lang="en-US" sz="1175" b="1">
                <a:solidFill>
                  <a:srgbClr val="2E7868"/>
                </a:solidFill>
                <a:latin typeface="Aptos"/>
              </a:rPr>
              <a:t>5</a:t>
            </a:r>
            <a:endParaRPr lang="en-US" sz="1175"/>
          </a:p>
        </p:txBody>
      </p:sp>
      <p:sp>
        <p:nvSpPr>
          <p:cNvPr id="40" name="Text"/>
          <p:cNvSpPr/>
          <p:nvPr/>
        </p:nvSpPr>
        <p:spPr>
          <a:xfrm>
            <a:off x="749808" y="5477256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300" b="0">
                <a:solidFill>
                  <a:srgbClr val="64766F"/>
                </a:solidFill>
                <a:latin typeface="Aptos"/>
              </a:rPr>
              <a:t>Unlisted / lower values add 0 points. The total is capped at 100; it is not a probability.</a:t>
            </a:r>
            <a:endParaRPr lang="en-US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7868"/>
          </a:solidFill>
          <a:ln>
            <a:noFill/>
          </a:ln>
        </p:spPr>
      </p:sp>
      <p:sp>
        <p:nvSpPr>
          <p:cNvPr id="4" name="Section label"/>
          <p:cNvSpPr/>
          <p:nvPr/>
        </p:nvSpPr>
        <p:spPr>
          <a:xfrm>
            <a:off x="621792" y="34747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50" b="1">
                <a:solidFill>
                  <a:srgbClr val="2E7868"/>
                </a:solidFill>
                <a:latin typeface="Aptos"/>
              </a:rPr>
              <a:t>05  /  WORKED EXAMPLE</a:t>
            </a:r>
            <a:endParaRPr lang="en-US" sz="1050"/>
          </a:p>
        </p:txBody>
      </p:sp>
      <p:sp>
        <p:nvSpPr>
          <p:cNvPr id="5" name="Slide title"/>
          <p:cNvSpPr/>
          <p:nvPr/>
        </p:nvSpPr>
        <p:spPr>
          <a:xfrm>
            <a:off x="621792" y="685800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700" b="1">
                <a:solidFill>
                  <a:srgbClr val="163D37"/>
                </a:solidFill>
                <a:latin typeface="Aptos"/>
              </a:rPr>
              <a:t>A sample profile produces 34 demo points.</a:t>
            </a:r>
            <a:endParaRPr lang="en-US" sz="2700"/>
          </a:p>
        </p:txBody>
      </p:sp>
      <p:sp>
        <p:nvSpPr>
          <p:cNvPr id="6" name="Slide subtitle"/>
          <p:cNvSpPr/>
          <p:nvPr/>
        </p:nvSpPr>
        <p:spPr>
          <a:xfrm>
            <a:off x="640080" y="1307592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50" b="0">
                <a:solidFill>
                  <a:srgbClr val="64766F"/>
                </a:solidFill>
                <a:latin typeface="Aptos"/>
              </a:rPr>
              <a:t>Here is the arithmetic for the preloaded fictional profile.</a:t>
            </a:r>
            <a:endParaRPr lang="en-US" sz="1450"/>
          </a:p>
        </p:txBody>
      </p:sp>
      <p:sp>
        <p:nvSpPr>
          <p:cNvPr id="7" name="Footer"/>
          <p:cNvSpPr/>
          <p:nvPr/>
        </p:nvSpPr>
        <p:spPr>
          <a:xfrm>
            <a:off x="621792" y="6473952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50" b="1">
                <a:solidFill>
                  <a:srgbClr val="64766F"/>
                </a:solidFill>
                <a:latin typeface="Aptos"/>
              </a:rPr>
              <a:t>MEDLENS  /  EXPLAINABLE AI PROJECT</a:t>
            </a:r>
            <a:endParaRPr lang="en-US" sz="850"/>
          </a:p>
        </p:txBody>
      </p:sp>
      <p:sp>
        <p:nvSpPr>
          <p:cNvPr id="8" name="Page number"/>
          <p:cNvSpPr/>
          <p:nvPr/>
        </p:nvSpPr>
        <p:spPr>
          <a:xfrm>
            <a:off x="10972800" y="6437376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50" b="0">
                <a:solidFill>
                  <a:srgbClr val="64766F"/>
                </a:solidFill>
                <a:latin typeface="Aptos"/>
              </a:rPr>
              <a:t>06 / 08</a:t>
            </a:r>
            <a:endParaRPr lang="en-US" sz="950"/>
          </a:p>
        </p:txBody>
      </p:sp>
      <p:sp>
        <p:nvSpPr>
          <p:cNvPr id="9" name="Card"/>
          <p:cNvSpPr/>
          <p:nvPr/>
        </p:nvSpPr>
        <p:spPr>
          <a:xfrm>
            <a:off x="658368" y="1901952"/>
            <a:ext cx="4800600" cy="3511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Text"/>
          <p:cNvSpPr/>
          <p:nvPr/>
        </p:nvSpPr>
        <p:spPr>
          <a:xfrm>
            <a:off x="932688" y="2112264"/>
            <a:ext cx="4187952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100" b="1">
                <a:solidFill>
                  <a:srgbClr val="2E7868"/>
                </a:solidFill>
                <a:latin typeface="Aptos"/>
              </a:rPr>
              <a:t>FICTIONAL SAMPLE INPUTS</a:t>
            </a:r>
            <a:endParaRPr lang="en-US" sz="1100"/>
          </a:p>
        </p:txBody>
      </p:sp>
      <p:sp>
        <p:nvSpPr>
          <p:cNvPr id="11" name="Text"/>
          <p:cNvSpPr/>
          <p:nvPr/>
        </p:nvSpPr>
        <p:spPr>
          <a:xfrm>
            <a:off x="914400" y="2624328"/>
            <a:ext cx="3401568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200" b="0">
                <a:solidFill>
                  <a:srgbClr val="20312D"/>
                </a:solidFill>
                <a:latin typeface="Aptos"/>
              </a:rPr>
              <a:t>Age 52</a:t>
            </a:r>
            <a:endParaRPr lang="en-US" sz="1200"/>
          </a:p>
        </p:txBody>
      </p:sp>
      <p:sp>
        <p:nvSpPr>
          <p:cNvPr id="12" name="Text"/>
          <p:cNvSpPr/>
          <p:nvPr/>
        </p:nvSpPr>
        <p:spPr>
          <a:xfrm>
            <a:off x="4389120" y="2624328"/>
            <a:ext cx="71323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r"/>
            <a:r>
              <a:rPr lang="en-US" sz="1200" b="1">
                <a:solidFill>
                  <a:srgbClr val="2E7868"/>
                </a:solidFill>
                <a:latin typeface="Aptos"/>
              </a:rPr>
              <a:t>+5</a:t>
            </a:r>
            <a:endParaRPr lang="en-US" sz="1200"/>
          </a:p>
        </p:txBody>
      </p:sp>
      <p:sp>
        <p:nvSpPr>
          <p:cNvPr id="13" name="Text"/>
          <p:cNvSpPr/>
          <p:nvPr/>
        </p:nvSpPr>
        <p:spPr>
          <a:xfrm>
            <a:off x="914400" y="3108960"/>
            <a:ext cx="3401568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200" b="0">
                <a:solidFill>
                  <a:srgbClr val="20312D"/>
                </a:solidFill>
                <a:latin typeface="Aptos"/>
              </a:rPr>
              <a:t>Blood pressure 132 mmHg</a:t>
            </a:r>
            <a:endParaRPr lang="en-US" sz="1200"/>
          </a:p>
        </p:txBody>
      </p:sp>
      <p:sp>
        <p:nvSpPr>
          <p:cNvPr id="14" name="Text"/>
          <p:cNvSpPr/>
          <p:nvPr/>
        </p:nvSpPr>
        <p:spPr>
          <a:xfrm>
            <a:off x="4389120" y="3108960"/>
            <a:ext cx="71323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r"/>
            <a:r>
              <a:rPr lang="en-US" sz="1200" b="1">
                <a:solidFill>
                  <a:srgbClr val="2E7868"/>
                </a:solidFill>
                <a:latin typeface="Aptos"/>
              </a:rPr>
              <a:t>+12</a:t>
            </a:r>
            <a:endParaRPr lang="en-US" sz="1200"/>
          </a:p>
        </p:txBody>
      </p:sp>
      <p:sp>
        <p:nvSpPr>
          <p:cNvPr id="15" name="Text"/>
          <p:cNvSpPr/>
          <p:nvPr/>
        </p:nvSpPr>
        <p:spPr>
          <a:xfrm>
            <a:off x="914400" y="3593592"/>
            <a:ext cx="3401568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200" b="0">
                <a:solidFill>
                  <a:srgbClr val="20312D"/>
                </a:solidFill>
                <a:latin typeface="Aptos"/>
              </a:rPr>
              <a:t>Fasting glucose 108 mg/dL</a:t>
            </a:r>
            <a:endParaRPr lang="en-US" sz="1200"/>
          </a:p>
        </p:txBody>
      </p:sp>
      <p:sp>
        <p:nvSpPr>
          <p:cNvPr id="16" name="Text"/>
          <p:cNvSpPr/>
          <p:nvPr/>
        </p:nvSpPr>
        <p:spPr>
          <a:xfrm>
            <a:off x="4389120" y="3593592"/>
            <a:ext cx="71323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r"/>
            <a:r>
              <a:rPr lang="en-US" sz="1200" b="1">
                <a:solidFill>
                  <a:srgbClr val="2E7868"/>
                </a:solidFill>
                <a:latin typeface="Aptos"/>
              </a:rPr>
              <a:t>+10</a:t>
            </a:r>
            <a:endParaRPr lang="en-US" sz="1200"/>
          </a:p>
        </p:txBody>
      </p:sp>
      <p:sp>
        <p:nvSpPr>
          <p:cNvPr id="17" name="Text"/>
          <p:cNvSpPr/>
          <p:nvPr/>
        </p:nvSpPr>
        <p:spPr>
          <a:xfrm>
            <a:off x="914400" y="4078224"/>
            <a:ext cx="3401568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200" b="0">
                <a:solidFill>
                  <a:srgbClr val="20312D"/>
                </a:solidFill>
                <a:latin typeface="Aptos"/>
              </a:rPr>
              <a:t>BMI 26.4</a:t>
            </a:r>
            <a:endParaRPr lang="en-US" sz="1200"/>
          </a:p>
        </p:txBody>
      </p:sp>
      <p:sp>
        <p:nvSpPr>
          <p:cNvPr id="18" name="Text"/>
          <p:cNvSpPr/>
          <p:nvPr/>
        </p:nvSpPr>
        <p:spPr>
          <a:xfrm>
            <a:off x="4389120" y="4078224"/>
            <a:ext cx="71323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r"/>
            <a:r>
              <a:rPr lang="en-US" sz="1200" b="1">
                <a:solidFill>
                  <a:srgbClr val="2E7868"/>
                </a:solidFill>
                <a:latin typeface="Aptos"/>
              </a:rPr>
              <a:t>+7</a:t>
            </a:r>
            <a:endParaRPr lang="en-US" sz="1200"/>
          </a:p>
        </p:txBody>
      </p:sp>
      <p:sp>
        <p:nvSpPr>
          <p:cNvPr id="19" name="Text"/>
          <p:cNvSpPr/>
          <p:nvPr/>
        </p:nvSpPr>
        <p:spPr>
          <a:xfrm>
            <a:off x="914400" y="4562856"/>
            <a:ext cx="3401568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200" b="0">
                <a:solidFill>
                  <a:srgbClr val="20312D"/>
                </a:solidFill>
                <a:latin typeface="Aptos"/>
              </a:rPr>
              <a:t>Resting HR 76 · non-smoker · active</a:t>
            </a:r>
            <a:endParaRPr lang="en-US" sz="1200"/>
          </a:p>
        </p:txBody>
      </p:sp>
      <p:sp>
        <p:nvSpPr>
          <p:cNvPr id="20" name="Text"/>
          <p:cNvSpPr/>
          <p:nvPr/>
        </p:nvSpPr>
        <p:spPr>
          <a:xfrm>
            <a:off x="4389120" y="4562856"/>
            <a:ext cx="71323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r"/>
            <a:r>
              <a:rPr lang="en-US" sz="1200" b="1">
                <a:solidFill>
                  <a:srgbClr val="64766F"/>
                </a:solidFill>
                <a:latin typeface="Aptos"/>
              </a:rPr>
              <a:t>+0</a:t>
            </a:r>
            <a:endParaRPr lang="en-US" sz="1200"/>
          </a:p>
        </p:txBody>
      </p:sp>
      <p:sp>
        <p:nvSpPr>
          <p:cNvPr id="21" name="Rule divider"/>
          <p:cNvSpPr/>
          <p:nvPr/>
        </p:nvSpPr>
        <p:spPr>
          <a:xfrm>
            <a:off x="932688" y="5020056"/>
            <a:ext cx="4206240" cy="22860"/>
          </a:xfrm>
          <a:prstGeom prst="rect">
            <a:avLst/>
          </a:prstGeom>
          <a:solidFill>
            <a:srgbClr val="DCEFE7"/>
          </a:solidFill>
          <a:ln>
            <a:noFill/>
          </a:ln>
        </p:spPr>
      </p:sp>
      <p:sp>
        <p:nvSpPr>
          <p:cNvPr id="22" name="Text"/>
          <p:cNvSpPr/>
          <p:nvPr/>
        </p:nvSpPr>
        <p:spPr>
          <a:xfrm>
            <a:off x="932688" y="5084064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150" b="1">
                <a:solidFill>
                  <a:srgbClr val="163D37"/>
                </a:solidFill>
                <a:latin typeface="Aptos"/>
              </a:rPr>
              <a:t>TOTAL</a:t>
            </a:r>
            <a:endParaRPr lang="en-US" sz="1150"/>
          </a:p>
        </p:txBody>
      </p:sp>
      <p:sp>
        <p:nvSpPr>
          <p:cNvPr id="23" name="Text"/>
          <p:cNvSpPr/>
          <p:nvPr/>
        </p:nvSpPr>
        <p:spPr>
          <a:xfrm>
            <a:off x="3995928" y="5038344"/>
            <a:ext cx="1078992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r"/>
            <a:r>
              <a:rPr lang="en-US" sz="1900" b="1">
                <a:solidFill>
                  <a:srgbClr val="163D37"/>
                </a:solidFill>
                <a:latin typeface="Aptos"/>
              </a:rPr>
              <a:t>34</a:t>
            </a:r>
            <a:endParaRPr lang="en-US" sz="1900"/>
          </a:p>
        </p:txBody>
      </p:sp>
      <p:sp>
        <p:nvSpPr>
          <p:cNvPr id="24" name="Card"/>
          <p:cNvSpPr/>
          <p:nvPr/>
        </p:nvSpPr>
        <p:spPr>
          <a:xfrm>
            <a:off x="5833872" y="1901952"/>
            <a:ext cx="5715000" cy="3511296"/>
          </a:xfrm>
          <a:prstGeom prst="roundRect">
            <a:avLst/>
          </a:prstGeom>
          <a:solidFill>
            <a:srgbClr val="163D37"/>
          </a:solidFill>
          <a:ln>
            <a:noFill/>
          </a:ln>
        </p:spPr>
      </p:sp>
      <p:sp>
        <p:nvSpPr>
          <p:cNvPr id="25" name="Text"/>
          <p:cNvSpPr/>
          <p:nvPr/>
        </p:nvSpPr>
        <p:spPr>
          <a:xfrm>
            <a:off x="6199632" y="224028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ctr"/>
            <a:r>
              <a:rPr lang="en-US" sz="1100" b="1">
                <a:solidFill>
                  <a:srgbClr val="A5D7C6"/>
                </a:solidFill>
                <a:latin typeface="Aptos"/>
              </a:rPr>
              <a:t>DEMO SIGNAL</a:t>
            </a:r>
            <a:endParaRPr lang="en-US" sz="1100"/>
          </a:p>
        </p:txBody>
      </p:sp>
      <p:sp>
        <p:nvSpPr>
          <p:cNvPr id="26" name="Text"/>
          <p:cNvSpPr/>
          <p:nvPr/>
        </p:nvSpPr>
        <p:spPr>
          <a:xfrm>
            <a:off x="6245352" y="274320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ctr"/>
            <a:r>
              <a:rPr lang="en-US" sz="5400" b="1">
                <a:solidFill>
                  <a:srgbClr val="FFFFFF"/>
                </a:solidFill>
                <a:latin typeface="Aptos"/>
              </a:rPr>
              <a:t>34</a:t>
            </a:r>
            <a:endParaRPr lang="en-US" sz="5400"/>
          </a:p>
        </p:txBody>
      </p:sp>
      <p:sp>
        <p:nvSpPr>
          <p:cNvPr id="27" name="Text"/>
          <p:cNvSpPr/>
          <p:nvPr/>
        </p:nvSpPr>
        <p:spPr>
          <a:xfrm>
            <a:off x="6245352" y="3877056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ctr"/>
            <a:r>
              <a:rPr lang="en-US" sz="2050" b="1">
                <a:solidFill>
                  <a:srgbClr val="FFFFFF"/>
                </a:solidFill>
                <a:latin typeface="Aptos"/>
              </a:rPr>
              <a:t>Moderate demo signal</a:t>
            </a:r>
            <a:endParaRPr lang="en-US" sz="2050"/>
          </a:p>
        </p:txBody>
      </p:sp>
      <p:sp>
        <p:nvSpPr>
          <p:cNvPr id="28" name="Text"/>
          <p:cNvSpPr/>
          <p:nvPr/>
        </p:nvSpPr>
        <p:spPr>
          <a:xfrm>
            <a:off x="6236208" y="4590288"/>
            <a:ext cx="489204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ctr"/>
            <a:r>
              <a:rPr lang="en-US" sz="1275" b="0">
                <a:solidFill>
                  <a:srgbClr val="D4E4DE"/>
                </a:solidFill>
                <a:latin typeface="Aptos"/>
              </a:rPr>
              <a:t>A label for the prototype only—not a risk category.</a:t>
            </a:r>
            <a:endParaRPr lang="en-US" sz="1275"/>
          </a:p>
        </p:txBody>
      </p:sp>
      <p:sp>
        <p:nvSpPr>
          <p:cNvPr id="29" name="Text"/>
          <p:cNvSpPr/>
          <p:nvPr/>
        </p:nvSpPr>
        <p:spPr>
          <a:xfrm>
            <a:off x="749808" y="571500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325" b="0">
                <a:solidFill>
                  <a:srgbClr val="64766F"/>
                </a:solidFill>
                <a:latin typeface="Aptos"/>
              </a:rPr>
              <a:t>Each added point can be traced back to the rule and input that generated it.</a:t>
            </a:r>
            <a:endParaRPr lang="en-US" sz="132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7868"/>
          </a:solidFill>
          <a:ln>
            <a:noFill/>
          </a:ln>
        </p:spPr>
      </p:sp>
      <p:sp>
        <p:nvSpPr>
          <p:cNvPr id="4" name="Section label"/>
          <p:cNvSpPr/>
          <p:nvPr/>
        </p:nvSpPr>
        <p:spPr>
          <a:xfrm>
            <a:off x="621792" y="34747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50" b="1">
                <a:solidFill>
                  <a:srgbClr val="2E7868"/>
                </a:solidFill>
                <a:latin typeface="Aptos"/>
              </a:rPr>
              <a:t>06  /  HOW IT IS BUILT</a:t>
            </a:r>
            <a:endParaRPr lang="en-US" sz="1050"/>
          </a:p>
        </p:txBody>
      </p:sp>
      <p:sp>
        <p:nvSpPr>
          <p:cNvPr id="5" name="Slide title"/>
          <p:cNvSpPr/>
          <p:nvPr/>
        </p:nvSpPr>
        <p:spPr>
          <a:xfrm>
            <a:off x="621792" y="685800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700" b="1">
                <a:solidFill>
                  <a:srgbClr val="163D37"/>
                </a:solidFill>
                <a:latin typeface="Aptos"/>
              </a:rPr>
              <a:t>A small web app keeps the logic easy to follow.</a:t>
            </a:r>
            <a:endParaRPr lang="en-US" sz="2700"/>
          </a:p>
        </p:txBody>
      </p:sp>
      <p:sp>
        <p:nvSpPr>
          <p:cNvPr id="6" name="Slide subtitle"/>
          <p:cNvSpPr/>
          <p:nvPr/>
        </p:nvSpPr>
        <p:spPr>
          <a:xfrm>
            <a:off x="640080" y="1307592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50" b="0">
                <a:solidFill>
                  <a:srgbClr val="64766F"/>
                </a:solidFill>
                <a:latin typeface="Aptos"/>
              </a:rPr>
              <a:t>The prototype uses ordinary web components and a transparent server-side scoring function.</a:t>
            </a:r>
            <a:endParaRPr lang="en-US" sz="1450"/>
          </a:p>
        </p:txBody>
      </p:sp>
      <p:sp>
        <p:nvSpPr>
          <p:cNvPr id="7" name="Footer"/>
          <p:cNvSpPr/>
          <p:nvPr/>
        </p:nvSpPr>
        <p:spPr>
          <a:xfrm>
            <a:off x="621792" y="6473952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50" b="1">
                <a:solidFill>
                  <a:srgbClr val="64766F"/>
                </a:solidFill>
                <a:latin typeface="Aptos"/>
              </a:rPr>
              <a:t>MEDLENS  /  EXPLAINABLE AI PROJECT</a:t>
            </a:r>
            <a:endParaRPr lang="en-US" sz="850"/>
          </a:p>
        </p:txBody>
      </p:sp>
      <p:sp>
        <p:nvSpPr>
          <p:cNvPr id="8" name="Page number"/>
          <p:cNvSpPr/>
          <p:nvPr/>
        </p:nvSpPr>
        <p:spPr>
          <a:xfrm>
            <a:off x="10972800" y="6437376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50" b="0">
                <a:solidFill>
                  <a:srgbClr val="64766F"/>
                </a:solidFill>
                <a:latin typeface="Aptos"/>
              </a:rPr>
              <a:t>07 / 08</a:t>
            </a:r>
            <a:endParaRPr lang="en-US" sz="950"/>
          </a:p>
        </p:txBody>
      </p:sp>
      <p:sp>
        <p:nvSpPr>
          <p:cNvPr id="9" name="Card"/>
          <p:cNvSpPr/>
          <p:nvPr/>
        </p:nvSpPr>
        <p:spPr>
          <a:xfrm>
            <a:off x="658368" y="2066544"/>
            <a:ext cx="3374136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Text"/>
          <p:cNvSpPr/>
          <p:nvPr/>
        </p:nvSpPr>
        <p:spPr>
          <a:xfrm>
            <a:off x="859536" y="2340864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100" b="1">
                <a:solidFill>
                  <a:srgbClr val="2E7868"/>
                </a:solidFill>
                <a:latin typeface="Aptos"/>
              </a:rPr>
              <a:t>BROWSER UI</a:t>
            </a:r>
            <a:endParaRPr lang="en-US" sz="1100"/>
          </a:p>
        </p:txBody>
      </p:sp>
      <p:sp>
        <p:nvSpPr>
          <p:cNvPr id="11" name="Text"/>
          <p:cNvSpPr/>
          <p:nvPr/>
        </p:nvSpPr>
        <p:spPr>
          <a:xfrm>
            <a:off x="859536" y="2770632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550" b="1">
                <a:solidFill>
                  <a:srgbClr val="163D37"/>
                </a:solidFill>
                <a:latin typeface="Aptos"/>
              </a:rPr>
              <a:t>HTML · CSS · JavaScript</a:t>
            </a:r>
            <a:endParaRPr lang="en-US" sz="1550"/>
          </a:p>
        </p:txBody>
      </p:sp>
      <p:sp>
        <p:nvSpPr>
          <p:cNvPr id="12" name="Text"/>
          <p:cNvSpPr/>
          <p:nvPr/>
        </p:nvSpPr>
        <p:spPr>
          <a:xfrm>
            <a:off x="859536" y="3227832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200" b="0">
                <a:solidFill>
                  <a:srgbClr val="64766F"/>
                </a:solidFill>
                <a:latin typeface="Aptos"/>
              </a:rPr>
              <a:t>Collects fictional inputs and renders the breakdown.</a:t>
            </a:r>
            <a:endParaRPr lang="en-US" sz="1200"/>
          </a:p>
        </p:txBody>
      </p:sp>
      <p:sp>
        <p:nvSpPr>
          <p:cNvPr id="13" name="Text"/>
          <p:cNvSpPr/>
          <p:nvPr/>
        </p:nvSpPr>
        <p:spPr>
          <a:xfrm>
            <a:off x="4059936" y="274320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700" b="1">
                <a:solidFill>
                  <a:srgbClr val="2E7868"/>
                </a:solidFill>
                <a:latin typeface="Aptos"/>
              </a:rPr>
              <a:t>→</a:t>
            </a:r>
            <a:endParaRPr lang="en-US" sz="1700"/>
          </a:p>
        </p:txBody>
      </p:sp>
      <p:sp>
        <p:nvSpPr>
          <p:cNvPr id="14" name="Card"/>
          <p:cNvSpPr/>
          <p:nvPr/>
        </p:nvSpPr>
        <p:spPr>
          <a:xfrm>
            <a:off x="4343400" y="2066544"/>
            <a:ext cx="3374136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Text"/>
          <p:cNvSpPr/>
          <p:nvPr/>
        </p:nvSpPr>
        <p:spPr>
          <a:xfrm>
            <a:off x="4544568" y="2340864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100" b="1">
                <a:solidFill>
                  <a:srgbClr val="2E7868"/>
                </a:solidFill>
                <a:latin typeface="Aptos"/>
              </a:rPr>
              <a:t>FLASK API</a:t>
            </a:r>
            <a:endParaRPr lang="en-US" sz="1100"/>
          </a:p>
        </p:txBody>
      </p:sp>
      <p:sp>
        <p:nvSpPr>
          <p:cNvPr id="16" name="Text"/>
          <p:cNvSpPr/>
          <p:nvPr/>
        </p:nvSpPr>
        <p:spPr>
          <a:xfrm>
            <a:off x="4544568" y="2770632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550" b="1">
                <a:solidFill>
                  <a:srgbClr val="163D37"/>
                </a:solidFill>
                <a:latin typeface="Aptos"/>
              </a:rPr>
              <a:t>POST /api/analyze</a:t>
            </a:r>
            <a:endParaRPr lang="en-US" sz="1550"/>
          </a:p>
        </p:txBody>
      </p:sp>
      <p:sp>
        <p:nvSpPr>
          <p:cNvPr id="17" name="Text"/>
          <p:cNvSpPr/>
          <p:nvPr/>
        </p:nvSpPr>
        <p:spPr>
          <a:xfrm>
            <a:off x="4544568" y="3227832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200" b="0">
                <a:solidFill>
                  <a:srgbClr val="64766F"/>
                </a:solidFill>
                <a:latin typeface="Aptos"/>
              </a:rPr>
              <a:t>Validates the JSON values and returns a clear error if needed.</a:t>
            </a:r>
            <a:endParaRPr lang="en-US" sz="1200"/>
          </a:p>
        </p:txBody>
      </p:sp>
      <p:sp>
        <p:nvSpPr>
          <p:cNvPr id="18" name="Text"/>
          <p:cNvSpPr/>
          <p:nvPr/>
        </p:nvSpPr>
        <p:spPr>
          <a:xfrm>
            <a:off x="7744968" y="274320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700" b="1">
                <a:solidFill>
                  <a:srgbClr val="2E7868"/>
                </a:solidFill>
                <a:latin typeface="Aptos"/>
              </a:rPr>
              <a:t>→</a:t>
            </a:r>
            <a:endParaRPr lang="en-US" sz="1700"/>
          </a:p>
        </p:txBody>
      </p:sp>
      <p:sp>
        <p:nvSpPr>
          <p:cNvPr id="19" name="Card"/>
          <p:cNvSpPr/>
          <p:nvPr/>
        </p:nvSpPr>
        <p:spPr>
          <a:xfrm>
            <a:off x="8028432" y="2066544"/>
            <a:ext cx="3374136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0" name="Text"/>
          <p:cNvSpPr/>
          <p:nvPr/>
        </p:nvSpPr>
        <p:spPr>
          <a:xfrm>
            <a:off x="8229600" y="2340864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100" b="1">
                <a:solidFill>
                  <a:srgbClr val="2E7868"/>
                </a:solidFill>
                <a:latin typeface="Aptos"/>
              </a:rPr>
              <a:t>SCORING LOGIC</a:t>
            </a:r>
            <a:endParaRPr lang="en-US" sz="1100"/>
          </a:p>
        </p:txBody>
      </p:sp>
      <p:sp>
        <p:nvSpPr>
          <p:cNvPr id="21" name="Text"/>
          <p:cNvSpPr/>
          <p:nvPr/>
        </p:nvSpPr>
        <p:spPr>
          <a:xfrm>
            <a:off x="8229600" y="2770632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550" b="1">
                <a:solidFill>
                  <a:srgbClr val="163D37"/>
                </a:solidFill>
                <a:latin typeface="Aptos"/>
              </a:rPr>
              <a:t>Fixed Python rules</a:t>
            </a:r>
            <a:endParaRPr lang="en-US" sz="1550"/>
          </a:p>
        </p:txBody>
      </p:sp>
      <p:sp>
        <p:nvSpPr>
          <p:cNvPr id="22" name="Text"/>
          <p:cNvSpPr/>
          <p:nvPr/>
        </p:nvSpPr>
        <p:spPr>
          <a:xfrm>
            <a:off x="8229600" y="3227832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200" b="0">
                <a:solidFill>
                  <a:srgbClr val="64766F"/>
                </a:solidFill>
                <a:latin typeface="Aptos"/>
              </a:rPr>
              <a:t>Calculates points and attaches each rule's explanation.</a:t>
            </a:r>
            <a:endParaRPr lang="en-US" sz="1200"/>
          </a:p>
        </p:txBody>
      </p:sp>
      <p:sp>
        <p:nvSpPr>
          <p:cNvPr id="23" name="Card"/>
          <p:cNvSpPr/>
          <p:nvPr/>
        </p:nvSpPr>
        <p:spPr>
          <a:xfrm>
            <a:off x="658368" y="4261104"/>
            <a:ext cx="5257800" cy="1133856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</p:sp>
      <p:sp>
        <p:nvSpPr>
          <p:cNvPr id="24" name="Text"/>
          <p:cNvSpPr/>
          <p:nvPr/>
        </p:nvSpPr>
        <p:spPr>
          <a:xfrm>
            <a:off x="896112" y="4480560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100" b="1">
                <a:solidFill>
                  <a:srgbClr val="2E7868"/>
                </a:solidFill>
                <a:latin typeface="Aptos"/>
              </a:rPr>
              <a:t>NO DATABASE OR USER ACCOUNTS</a:t>
            </a:r>
            <a:endParaRPr lang="en-US" sz="1100"/>
          </a:p>
        </p:txBody>
      </p:sp>
      <p:sp>
        <p:nvSpPr>
          <p:cNvPr id="25" name="Text"/>
          <p:cNvSpPr/>
          <p:nvPr/>
        </p:nvSpPr>
        <p:spPr>
          <a:xfrm>
            <a:off x="896112" y="4846320"/>
            <a:ext cx="47091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350" b="0">
                <a:solidFill>
                  <a:srgbClr val="163D37"/>
                </a:solidFill>
                <a:latin typeface="Aptos"/>
              </a:rPr>
              <a:t>Submitted values are not persisted.</a:t>
            </a:r>
            <a:endParaRPr lang="en-US" sz="1350"/>
          </a:p>
        </p:txBody>
      </p:sp>
      <p:sp>
        <p:nvSpPr>
          <p:cNvPr id="26" name="Card"/>
          <p:cNvSpPr/>
          <p:nvPr/>
        </p:nvSpPr>
        <p:spPr>
          <a:xfrm>
            <a:off x="6144768" y="4261104"/>
            <a:ext cx="5404104" cy="1133856"/>
          </a:xfrm>
          <a:prstGeom prst="roundRect">
            <a:avLst/>
          </a:prstGeom>
          <a:solidFill>
            <a:srgbClr val="F6E8E3"/>
          </a:solidFill>
          <a:ln>
            <a:noFill/>
          </a:ln>
        </p:spPr>
      </p:sp>
      <p:sp>
        <p:nvSpPr>
          <p:cNvPr id="27" name="Text"/>
          <p:cNvSpPr/>
          <p:nvPr/>
        </p:nvSpPr>
        <p:spPr>
          <a:xfrm>
            <a:off x="6382512" y="4480560"/>
            <a:ext cx="489204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100" b="1">
                <a:solidFill>
                  <a:srgbClr val="9A5546"/>
                </a:solidFill>
                <a:latin typeface="Aptos"/>
              </a:rPr>
              <a:t>NO EXTERNAL MODEL CALLS</a:t>
            </a:r>
            <a:endParaRPr lang="en-US" sz="1100"/>
          </a:p>
        </p:txBody>
      </p:sp>
      <p:sp>
        <p:nvSpPr>
          <p:cNvPr id="28" name="Text"/>
          <p:cNvSpPr/>
          <p:nvPr/>
        </p:nvSpPr>
        <p:spPr>
          <a:xfrm>
            <a:off x="6382512" y="4846320"/>
            <a:ext cx="489204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/>
          <a:lstStyle/>
          <a:p>
            <a:pPr algn="l"/>
            <a:r>
              <a:rPr lang="en-US" sz="1350" b="0">
                <a:solidFill>
                  <a:srgbClr val="163D37"/>
                </a:solidFill>
                <a:latin typeface="Aptos"/>
              </a:rPr>
              <a:t>The result comes from explicit demo rules.</a:t>
            </a:r>
            <a:endParaRPr lang="en-US" sz="13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678</Words>
  <Application>Microsoft Office PowerPoint</Application>
  <PresentationFormat>Widescreen</PresentationFormat>
  <Paragraphs>139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Mayank Jaiswal</dc:creator>
  <cp:lastModifiedBy>Mayank Jaiswal</cp:lastModifiedBy>
  <cp:revision>1</cp:revision>
  <dcterms:modified xsi:type="dcterms:W3CDTF">2026-10-29T08:30:13Z</dcterms:modified>
</cp:coreProperties>
</file>